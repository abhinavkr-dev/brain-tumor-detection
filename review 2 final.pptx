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66" r:id="rId5"/>
    <p:sldId id="259" r:id="rId6"/>
    <p:sldId id="268" r:id="rId7"/>
    <p:sldId id="260" r:id="rId8"/>
    <p:sldId id="267" r:id="rId9"/>
    <p:sldId id="261" r:id="rId10"/>
    <p:sldId id="262" r:id="rId11"/>
    <p:sldId id="263" r:id="rId12"/>
    <p:sldId id="264" r:id="rId13"/>
    <p:sldId id="265" r:id="rId14"/>
  </p:sldIdLst>
  <p:sldSz cx="14630400" cy="8229600"/>
  <p:notesSz cx="8229600" cy="14630400"/>
  <p:embeddedFontLst>
    <p:embeddedFont>
      <p:font typeface="Kanit Light" panose="020B0604020202020204" charset="-34"/>
      <p:regular r:id="rId16"/>
    </p:embeddedFont>
    <p:embeddedFont>
      <p:font typeface="Calibri" panose="020F0502020204030204" pitchFamily="34" charset="0"/>
      <p:regular r:id="rId17"/>
      <p:bold r:id="rId18"/>
      <p:italic r:id="rId19"/>
      <p:boldItalic r:id="rId20"/>
    </p:embeddedFont>
    <p:embeddedFont>
      <p:font typeface="Inter"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56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2419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6.svg"/><Relationship Id="rId5" Type="http://schemas.openxmlformats.org/officeDocument/2006/relationships/image" Target="../media/image-3-4.svg"/><Relationship Id="rId4" Type="http://schemas.openxmlformats.org/officeDocument/2006/relationships/image" Target="../media/image-3-2.sv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99282"/>
            <a:ext cx="7556421" cy="2579268"/>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Brain Tumor Detection: Advanced CNN-LSTM Hybrid Architecture</a:t>
            </a:r>
            <a:endParaRPr lang="en-US" sz="3900" dirty="0"/>
          </a:p>
        </p:txBody>
      </p:sp>
      <p:sp>
        <p:nvSpPr>
          <p:cNvPr id="4" name="Text 1"/>
          <p:cNvSpPr/>
          <p:nvPr/>
        </p:nvSpPr>
        <p:spPr>
          <a:xfrm>
            <a:off x="793790" y="4876205"/>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Phase </a:t>
            </a:r>
            <a:r>
              <a:rPr lang="en-US" sz="1550" dirty="0" smtClean="0">
                <a:solidFill>
                  <a:srgbClr val="272525"/>
                </a:solidFill>
                <a:latin typeface="Inter" pitchFamily="34" charset="0"/>
                <a:ea typeface="Inter" pitchFamily="34" charset="-122"/>
                <a:cs typeface="Inter" pitchFamily="34" charset="-120"/>
              </a:rPr>
              <a:t>2 </a:t>
            </a:r>
            <a:r>
              <a:rPr lang="en-US" sz="1550" dirty="0">
                <a:solidFill>
                  <a:srgbClr val="272525"/>
                </a:solidFill>
                <a:latin typeface="Inter" pitchFamily="34" charset="0"/>
                <a:ea typeface="Inter" pitchFamily="34" charset="-122"/>
                <a:cs typeface="Inter" pitchFamily="34" charset="-120"/>
              </a:rPr>
              <a:t>Implementation Report — Achieving 96.8% Accuracy with Clinical Readiness</a:t>
            </a:r>
            <a:endParaRPr lang="en-US" sz="1550" dirty="0"/>
          </a:p>
        </p:txBody>
      </p:sp>
      <p:sp>
        <p:nvSpPr>
          <p:cNvPr id="6" name="TextBox 5"/>
          <p:cNvSpPr txBox="1"/>
          <p:nvPr/>
        </p:nvSpPr>
        <p:spPr>
          <a:xfrm>
            <a:off x="762793" y="5808940"/>
            <a:ext cx="4646115" cy="959237"/>
          </a:xfrm>
          <a:prstGeom prst="rect">
            <a:avLst/>
          </a:prstGeom>
          <a:noFill/>
        </p:spPr>
        <p:txBody>
          <a:bodyPr wrap="square" rtlCol="0">
            <a:spAutoFit/>
          </a:bodyPr>
          <a:lstStyle/>
          <a:p>
            <a:pPr>
              <a:lnSpc>
                <a:spcPts val="2250"/>
              </a:lnSpc>
            </a:pPr>
            <a:r>
              <a:rPr lang="en-US" sz="1600" b="1" dirty="0">
                <a:solidFill>
                  <a:srgbClr val="272D45"/>
                </a:solidFill>
                <a:latin typeface="Arial" panose="020B0604020202020204" pitchFamily="34" charset="0"/>
                <a:ea typeface="Kanit Light" pitchFamily="34" charset="-122"/>
                <a:cs typeface="Arial" panose="020B0604020202020204" pitchFamily="34" charset="0"/>
              </a:rPr>
              <a:t>Name:</a:t>
            </a:r>
            <a:r>
              <a:rPr lang="en-US" sz="1600" dirty="0">
                <a:solidFill>
                  <a:srgbClr val="272D45"/>
                </a:solidFill>
                <a:latin typeface="Arial" panose="020B0604020202020204" pitchFamily="34" charset="0"/>
                <a:ea typeface="Kanit Light" pitchFamily="34" charset="-122"/>
                <a:cs typeface="Arial" panose="020B0604020202020204" pitchFamily="34" charset="0"/>
              </a:rPr>
              <a:t> </a:t>
            </a:r>
            <a:r>
              <a:rPr lang="en-US" sz="1600" dirty="0" err="1">
                <a:solidFill>
                  <a:srgbClr val="272D45"/>
                </a:solidFill>
                <a:latin typeface="Arial" panose="020B0604020202020204" pitchFamily="34" charset="0"/>
                <a:ea typeface="Kanit Light" pitchFamily="34" charset="-122"/>
                <a:cs typeface="Arial" panose="020B0604020202020204" pitchFamily="34" charset="0"/>
              </a:rPr>
              <a:t>Chirayu</a:t>
            </a:r>
            <a:r>
              <a:rPr lang="en-US" sz="1600" dirty="0">
                <a:solidFill>
                  <a:srgbClr val="272D45"/>
                </a:solidFill>
                <a:latin typeface="Arial" panose="020B0604020202020204" pitchFamily="34" charset="0"/>
                <a:ea typeface="Kanit Light" pitchFamily="34" charset="-122"/>
                <a:cs typeface="Arial" panose="020B0604020202020204" pitchFamily="34" charset="0"/>
              </a:rPr>
              <a:t> </a:t>
            </a:r>
            <a:r>
              <a:rPr lang="en-US" sz="1600" dirty="0" err="1">
                <a:solidFill>
                  <a:srgbClr val="272D45"/>
                </a:solidFill>
                <a:latin typeface="Arial" panose="020B0604020202020204" pitchFamily="34" charset="0"/>
                <a:ea typeface="Kanit Light" pitchFamily="34" charset="-122"/>
                <a:cs typeface="Arial" panose="020B0604020202020204" pitchFamily="34" charset="0"/>
              </a:rPr>
              <a:t>Jaju</a:t>
            </a:r>
            <a:endParaRPr lang="en-US" sz="1600" dirty="0">
              <a:latin typeface="Arial" panose="020B0604020202020204" pitchFamily="34" charset="0"/>
              <a:cs typeface="Arial" panose="020B0604020202020204" pitchFamily="34" charset="0"/>
            </a:endParaRPr>
          </a:p>
          <a:p>
            <a:pPr>
              <a:lnSpc>
                <a:spcPts val="2250"/>
              </a:lnSpc>
            </a:pPr>
            <a:r>
              <a:rPr lang="en-US" sz="1600" b="1" dirty="0">
                <a:solidFill>
                  <a:srgbClr val="272D45"/>
                </a:solidFill>
                <a:latin typeface="Arial" panose="020B0604020202020204" pitchFamily="34" charset="0"/>
                <a:ea typeface="Kanit Light" pitchFamily="34" charset="-122"/>
                <a:cs typeface="Arial" panose="020B0604020202020204" pitchFamily="34" charset="0"/>
              </a:rPr>
              <a:t>Registration Number:</a:t>
            </a:r>
            <a:r>
              <a:rPr lang="en-US" sz="1600" dirty="0" smtClean="0">
                <a:solidFill>
                  <a:srgbClr val="272D45"/>
                </a:solidFill>
                <a:latin typeface="Arial" panose="020B0604020202020204" pitchFamily="34" charset="0"/>
                <a:ea typeface="Kanit Light" pitchFamily="34" charset="-122"/>
                <a:cs typeface="Arial" panose="020B0604020202020204" pitchFamily="34" charset="0"/>
              </a:rPr>
              <a:t>23BCE8442 </a:t>
            </a:r>
            <a:endParaRPr lang="en-US" sz="1600" dirty="0" smtClean="0">
              <a:latin typeface="Arial" panose="020B0604020202020204" pitchFamily="34" charset="0"/>
              <a:cs typeface="Arial" panose="020B0604020202020204" pitchFamily="34"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31808"/>
            <a:ext cx="1063740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Executive Summary: Phase 3 Achievements</a:t>
            </a:r>
            <a:endParaRPr lang="en-US" sz="3900" dirty="0"/>
          </a:p>
        </p:txBody>
      </p:sp>
      <p:sp>
        <p:nvSpPr>
          <p:cNvPr id="3" name="Text 1"/>
          <p:cNvSpPr/>
          <p:nvPr/>
        </p:nvSpPr>
        <p:spPr>
          <a:xfrm>
            <a:off x="793790" y="2228136"/>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Phase 3 delivers our advanced CNN-LSTM hybrid architecture, achieving our target performance of 95-98% accuracy. This phase builds upon the baseline CNN from Phase 2 by introducing LSTM layers for sequential modeling, batch normalization for training stability, and enhanced architecture with 5 CNN blocks.</a:t>
            </a:r>
            <a:endParaRPr lang="en-US" sz="1550" dirty="0"/>
          </a:p>
        </p:txBody>
      </p:sp>
      <p:sp>
        <p:nvSpPr>
          <p:cNvPr id="4" name="Text 2"/>
          <p:cNvSpPr/>
          <p:nvPr/>
        </p:nvSpPr>
        <p:spPr>
          <a:xfrm>
            <a:off x="793790" y="3994428"/>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implementation features comprehensive evaluation, advanced regularization techniques, and professional-grade visualizations. All deliverables are complete and ready for clinical validation.</a:t>
            </a:r>
            <a:endParaRPr lang="en-US" sz="1550" dirty="0"/>
          </a:p>
        </p:txBody>
      </p:sp>
      <p:sp>
        <p:nvSpPr>
          <p:cNvPr id="5" name="Text 3"/>
          <p:cNvSpPr/>
          <p:nvPr/>
        </p:nvSpPr>
        <p:spPr>
          <a:xfrm>
            <a:off x="7564874" y="2228136"/>
            <a:ext cx="6279356" cy="317540"/>
          </a:xfrm>
          <a:prstGeom prst="rect">
            <a:avLst/>
          </a:prstGeom>
          <a:noFill/>
          <a:ln/>
        </p:spPr>
        <p:txBody>
          <a:bodyPr wrap="none" lIns="0" tIns="0" rIns="0" bIns="0" rtlCol="0" anchor="t"/>
          <a:lstStyle/>
          <a:p>
            <a:pPr marL="0" indent="0" algn="l">
              <a:lnSpc>
                <a:spcPts val="2500"/>
              </a:lnSpc>
              <a:buNone/>
            </a:pPr>
            <a:endParaRPr lang="en-US" sz="1550" dirty="0"/>
          </a:p>
        </p:txBody>
      </p:sp>
      <p:sp>
        <p:nvSpPr>
          <p:cNvPr id="6" name="Text 4"/>
          <p:cNvSpPr/>
          <p:nvPr/>
        </p:nvSpPr>
        <p:spPr>
          <a:xfrm>
            <a:off x="793790" y="5448062"/>
            <a:ext cx="3074670"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96.8%</a:t>
            </a:r>
            <a:endParaRPr lang="en-US" sz="5150" dirty="0"/>
          </a:p>
        </p:txBody>
      </p:sp>
      <p:sp>
        <p:nvSpPr>
          <p:cNvPr id="7" name="Text 5"/>
          <p:cNvSpPr/>
          <p:nvPr/>
        </p:nvSpPr>
        <p:spPr>
          <a:xfrm>
            <a:off x="1090613" y="635103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Test Accuracy</a:t>
            </a:r>
            <a:endParaRPr lang="en-US" sz="1950" dirty="0"/>
          </a:p>
        </p:txBody>
      </p:sp>
      <p:sp>
        <p:nvSpPr>
          <p:cNvPr id="8" name="Text 6"/>
          <p:cNvSpPr/>
          <p:nvPr/>
        </p:nvSpPr>
        <p:spPr>
          <a:xfrm>
            <a:off x="793790" y="6780252"/>
            <a:ext cx="3074670"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Exceeds 95% target</a:t>
            </a:r>
            <a:endParaRPr lang="en-US" sz="1550" dirty="0"/>
          </a:p>
        </p:txBody>
      </p:sp>
      <p:sp>
        <p:nvSpPr>
          <p:cNvPr id="9" name="Text 7"/>
          <p:cNvSpPr/>
          <p:nvPr/>
        </p:nvSpPr>
        <p:spPr>
          <a:xfrm>
            <a:off x="4116467" y="5448062"/>
            <a:ext cx="3074670"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97.5%</a:t>
            </a:r>
            <a:endParaRPr lang="en-US" sz="5150" dirty="0"/>
          </a:p>
        </p:txBody>
      </p:sp>
      <p:sp>
        <p:nvSpPr>
          <p:cNvPr id="10" name="Text 8"/>
          <p:cNvSpPr/>
          <p:nvPr/>
        </p:nvSpPr>
        <p:spPr>
          <a:xfrm>
            <a:off x="4346853" y="6351032"/>
            <a:ext cx="2613779"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Tumor Detection Rate</a:t>
            </a:r>
            <a:endParaRPr lang="en-US" sz="1950" dirty="0"/>
          </a:p>
        </p:txBody>
      </p:sp>
      <p:sp>
        <p:nvSpPr>
          <p:cNvPr id="11" name="Text 9"/>
          <p:cNvSpPr/>
          <p:nvPr/>
        </p:nvSpPr>
        <p:spPr>
          <a:xfrm>
            <a:off x="4116467" y="6780252"/>
            <a:ext cx="3074670"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Critical clinical metric</a:t>
            </a:r>
            <a:endParaRPr lang="en-US" sz="1550" dirty="0"/>
          </a:p>
        </p:txBody>
      </p:sp>
      <p:sp>
        <p:nvSpPr>
          <p:cNvPr id="12" name="Text 10"/>
          <p:cNvSpPr/>
          <p:nvPr/>
        </p:nvSpPr>
        <p:spPr>
          <a:xfrm>
            <a:off x="7439144" y="5448062"/>
            <a:ext cx="3074670"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99.1%</a:t>
            </a:r>
            <a:endParaRPr lang="en-US" sz="5150" dirty="0"/>
          </a:p>
        </p:txBody>
      </p:sp>
      <p:sp>
        <p:nvSpPr>
          <p:cNvPr id="13" name="Text 11"/>
          <p:cNvSpPr/>
          <p:nvPr/>
        </p:nvSpPr>
        <p:spPr>
          <a:xfrm>
            <a:off x="7735967" y="635103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ROC-AUC Score</a:t>
            </a:r>
            <a:endParaRPr lang="en-US" sz="1950" dirty="0"/>
          </a:p>
        </p:txBody>
      </p:sp>
      <p:sp>
        <p:nvSpPr>
          <p:cNvPr id="14" name="Text 12"/>
          <p:cNvSpPr/>
          <p:nvPr/>
        </p:nvSpPr>
        <p:spPr>
          <a:xfrm>
            <a:off x="7439144" y="6780252"/>
            <a:ext cx="3074670"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Excellent discrimination</a:t>
            </a:r>
            <a:endParaRPr lang="en-US" sz="1550" dirty="0"/>
          </a:p>
        </p:txBody>
      </p:sp>
      <p:sp>
        <p:nvSpPr>
          <p:cNvPr id="15" name="Text 13"/>
          <p:cNvSpPr/>
          <p:nvPr/>
        </p:nvSpPr>
        <p:spPr>
          <a:xfrm>
            <a:off x="10761821" y="5448062"/>
            <a:ext cx="3074789"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&lt;50ms</a:t>
            </a:r>
            <a:endParaRPr lang="en-US" sz="5150" dirty="0"/>
          </a:p>
        </p:txBody>
      </p:sp>
      <p:sp>
        <p:nvSpPr>
          <p:cNvPr id="16" name="Text 14"/>
          <p:cNvSpPr/>
          <p:nvPr/>
        </p:nvSpPr>
        <p:spPr>
          <a:xfrm>
            <a:off x="11058763" y="635103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Inference Time</a:t>
            </a:r>
            <a:endParaRPr lang="en-US" sz="1950" dirty="0"/>
          </a:p>
        </p:txBody>
      </p:sp>
      <p:sp>
        <p:nvSpPr>
          <p:cNvPr id="17" name="Text 15"/>
          <p:cNvSpPr/>
          <p:nvPr/>
        </p:nvSpPr>
        <p:spPr>
          <a:xfrm>
            <a:off x="10761821" y="6780252"/>
            <a:ext cx="3074789" cy="317540"/>
          </a:xfrm>
          <a:prstGeom prst="rect">
            <a:avLst/>
          </a:prstGeom>
          <a:noFill/>
          <a:ln/>
        </p:spPr>
        <p:txBody>
          <a:bodyPr wrap="non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Per image processing</a:t>
            </a:r>
            <a:endParaRPr lang="en-US" sz="1550" dirty="0"/>
          </a:p>
        </p:txBody>
      </p:sp>
      <p:sp>
        <p:nvSpPr>
          <p:cNvPr id="18" name="Rectangle 17"/>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98897"/>
            <a:ext cx="10245447"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Advanced CNN-LSTM Hybrid Architecture</a:t>
            </a:r>
            <a:endParaRPr lang="en-US" sz="3900" dirty="0"/>
          </a:p>
        </p:txBody>
      </p:sp>
      <p:sp>
        <p:nvSpPr>
          <p:cNvPr id="3" name="Shape 1"/>
          <p:cNvSpPr/>
          <p:nvPr/>
        </p:nvSpPr>
        <p:spPr>
          <a:xfrm>
            <a:off x="793790" y="1616631"/>
            <a:ext cx="6422231" cy="2269927"/>
          </a:xfrm>
          <a:prstGeom prst="roundRect">
            <a:avLst>
              <a:gd name="adj" fmla="val 3672"/>
            </a:avLst>
          </a:prstGeom>
          <a:solidFill>
            <a:srgbClr val="DADBF1"/>
          </a:solidFill>
          <a:ln w="7620">
            <a:solidFill>
              <a:srgbClr val="C0C1D7"/>
            </a:solidFill>
            <a:prstDash val="solid"/>
          </a:ln>
        </p:spPr>
      </p:sp>
      <p:sp>
        <p:nvSpPr>
          <p:cNvPr id="4" name="Shape 2"/>
          <p:cNvSpPr/>
          <p:nvPr/>
        </p:nvSpPr>
        <p:spPr>
          <a:xfrm>
            <a:off x="999768" y="1822609"/>
            <a:ext cx="595313" cy="595313"/>
          </a:xfrm>
          <a:prstGeom prst="roundRect">
            <a:avLst>
              <a:gd name="adj" fmla="val 15358451"/>
            </a:avLst>
          </a:prstGeom>
          <a:solidFill>
            <a:srgbClr val="4950BC"/>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163479" y="1986201"/>
            <a:ext cx="267891" cy="267891"/>
          </a:xfrm>
          <a:prstGeom prst="rect">
            <a:avLst/>
          </a:prstGeom>
        </p:spPr>
      </p:pic>
      <p:sp>
        <p:nvSpPr>
          <p:cNvPr id="6" name="Text 3"/>
          <p:cNvSpPr/>
          <p:nvPr/>
        </p:nvSpPr>
        <p:spPr>
          <a:xfrm>
            <a:off x="999768" y="2616279"/>
            <a:ext cx="276320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5 Convolutional Blocks</a:t>
            </a:r>
            <a:endParaRPr lang="en-US" sz="1950" dirty="0"/>
          </a:p>
        </p:txBody>
      </p:sp>
      <p:sp>
        <p:nvSpPr>
          <p:cNvPr id="7" name="Text 4"/>
          <p:cNvSpPr/>
          <p:nvPr/>
        </p:nvSpPr>
        <p:spPr>
          <a:xfrm>
            <a:off x="999768" y="3045500"/>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64→128→256→512→512 filters with progressive feature extraction</a:t>
            </a:r>
            <a:endParaRPr lang="en-US" sz="1550" dirty="0"/>
          </a:p>
        </p:txBody>
      </p:sp>
      <p:sp>
        <p:nvSpPr>
          <p:cNvPr id="8" name="Shape 5"/>
          <p:cNvSpPr/>
          <p:nvPr/>
        </p:nvSpPr>
        <p:spPr>
          <a:xfrm>
            <a:off x="7414379" y="1616631"/>
            <a:ext cx="6422231" cy="2269927"/>
          </a:xfrm>
          <a:prstGeom prst="roundRect">
            <a:avLst>
              <a:gd name="adj" fmla="val 3672"/>
            </a:avLst>
          </a:prstGeom>
          <a:solidFill>
            <a:srgbClr val="DADBF1"/>
          </a:solidFill>
          <a:ln w="7620">
            <a:solidFill>
              <a:srgbClr val="C0C1D7"/>
            </a:solidFill>
            <a:prstDash val="solid"/>
          </a:ln>
        </p:spPr>
      </p:sp>
      <p:sp>
        <p:nvSpPr>
          <p:cNvPr id="9" name="Shape 6"/>
          <p:cNvSpPr/>
          <p:nvPr/>
        </p:nvSpPr>
        <p:spPr>
          <a:xfrm>
            <a:off x="7620357" y="1822609"/>
            <a:ext cx="595313" cy="595313"/>
          </a:xfrm>
          <a:prstGeom prst="roundRect">
            <a:avLst>
              <a:gd name="adj" fmla="val 15358451"/>
            </a:avLst>
          </a:prstGeom>
          <a:solidFill>
            <a:srgbClr val="4950BC"/>
          </a:solidFill>
          <a:ln/>
        </p:spPr>
      </p:sp>
      <p:pic>
        <p:nvPicPr>
          <p:cNvPr id="10"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7784068" y="1986201"/>
            <a:ext cx="267891" cy="267891"/>
          </a:xfrm>
          <a:prstGeom prst="rect">
            <a:avLst/>
          </a:prstGeom>
        </p:spPr>
      </p:pic>
      <p:sp>
        <p:nvSpPr>
          <p:cNvPr id="11" name="Text 7"/>
          <p:cNvSpPr/>
          <p:nvPr/>
        </p:nvSpPr>
        <p:spPr>
          <a:xfrm>
            <a:off x="7620357" y="261627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Batch Normalization</a:t>
            </a:r>
            <a:endParaRPr lang="en-US" sz="1950" dirty="0"/>
          </a:p>
        </p:txBody>
      </p:sp>
      <p:sp>
        <p:nvSpPr>
          <p:cNvPr id="12" name="Text 8"/>
          <p:cNvSpPr/>
          <p:nvPr/>
        </p:nvSpPr>
        <p:spPr>
          <a:xfrm>
            <a:off x="7620357" y="3045500"/>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Applied after each convolutional layer for training stability</a:t>
            </a:r>
            <a:endParaRPr lang="en-US" sz="1550" dirty="0"/>
          </a:p>
        </p:txBody>
      </p:sp>
      <p:sp>
        <p:nvSpPr>
          <p:cNvPr id="13" name="Shape 9"/>
          <p:cNvSpPr/>
          <p:nvPr/>
        </p:nvSpPr>
        <p:spPr>
          <a:xfrm>
            <a:off x="793790" y="4084915"/>
            <a:ext cx="6422231" cy="2269927"/>
          </a:xfrm>
          <a:prstGeom prst="roundRect">
            <a:avLst>
              <a:gd name="adj" fmla="val 3672"/>
            </a:avLst>
          </a:prstGeom>
          <a:solidFill>
            <a:srgbClr val="DADBF1"/>
          </a:solidFill>
          <a:ln w="7620">
            <a:solidFill>
              <a:srgbClr val="C0C1D7"/>
            </a:solidFill>
            <a:prstDash val="solid"/>
          </a:ln>
        </p:spPr>
      </p:sp>
      <p:sp>
        <p:nvSpPr>
          <p:cNvPr id="14" name="Shape 10"/>
          <p:cNvSpPr/>
          <p:nvPr/>
        </p:nvSpPr>
        <p:spPr>
          <a:xfrm>
            <a:off x="999768" y="4290893"/>
            <a:ext cx="595313" cy="595313"/>
          </a:xfrm>
          <a:prstGeom prst="roundRect">
            <a:avLst>
              <a:gd name="adj" fmla="val 15358451"/>
            </a:avLst>
          </a:prstGeom>
          <a:solidFill>
            <a:srgbClr val="4950BC"/>
          </a:solidFill>
          <a:ln/>
        </p:spPr>
      </p:sp>
      <p:pic>
        <p:nvPicPr>
          <p:cNvPr id="15"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1163479" y="4454485"/>
            <a:ext cx="267891" cy="267891"/>
          </a:xfrm>
          <a:prstGeom prst="rect">
            <a:avLst/>
          </a:prstGeom>
        </p:spPr>
      </p:pic>
      <p:sp>
        <p:nvSpPr>
          <p:cNvPr id="16" name="Text 11"/>
          <p:cNvSpPr/>
          <p:nvPr/>
        </p:nvSpPr>
        <p:spPr>
          <a:xfrm>
            <a:off x="999768" y="5084564"/>
            <a:ext cx="280761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Global Average Pooling</a:t>
            </a:r>
            <a:endParaRPr lang="en-US" sz="1950" dirty="0"/>
          </a:p>
        </p:txBody>
      </p:sp>
      <p:sp>
        <p:nvSpPr>
          <p:cNvPr id="17" name="Text 12"/>
          <p:cNvSpPr/>
          <p:nvPr/>
        </p:nvSpPr>
        <p:spPr>
          <a:xfrm>
            <a:off x="999768" y="5513784"/>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Reduces parameters and prevents overfitting vs. flatten operation</a:t>
            </a:r>
            <a:endParaRPr lang="en-US" sz="1550" dirty="0"/>
          </a:p>
        </p:txBody>
      </p:sp>
      <p:sp>
        <p:nvSpPr>
          <p:cNvPr id="18" name="Shape 13"/>
          <p:cNvSpPr/>
          <p:nvPr/>
        </p:nvSpPr>
        <p:spPr>
          <a:xfrm>
            <a:off x="7414379" y="4084915"/>
            <a:ext cx="6422231" cy="2269927"/>
          </a:xfrm>
          <a:prstGeom prst="roundRect">
            <a:avLst>
              <a:gd name="adj" fmla="val 3672"/>
            </a:avLst>
          </a:prstGeom>
          <a:solidFill>
            <a:srgbClr val="DADBF1"/>
          </a:solidFill>
          <a:ln w="7620">
            <a:solidFill>
              <a:srgbClr val="C0C1D7"/>
            </a:solidFill>
            <a:prstDash val="solid"/>
          </a:ln>
        </p:spPr>
      </p:sp>
      <p:sp>
        <p:nvSpPr>
          <p:cNvPr id="19" name="Shape 14"/>
          <p:cNvSpPr/>
          <p:nvPr/>
        </p:nvSpPr>
        <p:spPr>
          <a:xfrm>
            <a:off x="7620357" y="4290893"/>
            <a:ext cx="595313" cy="595313"/>
          </a:xfrm>
          <a:prstGeom prst="roundRect">
            <a:avLst>
              <a:gd name="adj" fmla="val 15358451"/>
            </a:avLst>
          </a:prstGeom>
          <a:solidFill>
            <a:srgbClr val="4950BC"/>
          </a:solidFill>
          <a:ln/>
        </p:spPr>
      </p:sp>
      <p:pic>
        <p:nvPicPr>
          <p:cNvPr id="20"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7784068" y="4454485"/>
            <a:ext cx="267891" cy="267891"/>
          </a:xfrm>
          <a:prstGeom prst="rect">
            <a:avLst/>
          </a:prstGeom>
        </p:spPr>
      </p:pic>
      <p:sp>
        <p:nvSpPr>
          <p:cNvPr id="21" name="Text 15"/>
          <p:cNvSpPr/>
          <p:nvPr/>
        </p:nvSpPr>
        <p:spPr>
          <a:xfrm>
            <a:off x="7620357" y="508456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LSTM Integration</a:t>
            </a:r>
            <a:endParaRPr lang="en-US" sz="1950" dirty="0"/>
          </a:p>
        </p:txBody>
      </p:sp>
      <p:sp>
        <p:nvSpPr>
          <p:cNvPr id="22" name="Text 16"/>
          <p:cNvSpPr/>
          <p:nvPr/>
        </p:nvSpPr>
        <p:spPr>
          <a:xfrm>
            <a:off x="7620357" y="5513784"/>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Sequential modeling for temporal pattern recognition</a:t>
            </a:r>
            <a:endParaRPr lang="en-US" sz="1550" dirty="0"/>
          </a:p>
        </p:txBody>
      </p:sp>
      <p:sp>
        <p:nvSpPr>
          <p:cNvPr id="23" name="Text 17"/>
          <p:cNvSpPr/>
          <p:nvPr/>
        </p:nvSpPr>
        <p:spPr>
          <a:xfrm>
            <a:off x="793790" y="6578084"/>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This architecture represents a significant evolution from Method-1, incorporating architectural improvements that enable richer feature representation and more stable training dynamics. The addition of the 5th convolutional block and double conv layers per block provides deeper hierarchical feature learning, while batch normalization accelerates convergence and improves generalization.</a:t>
            </a:r>
            <a:endParaRPr lang="en-US" sz="1550" dirty="0"/>
          </a:p>
        </p:txBody>
      </p:sp>
      <p:sp>
        <p:nvSpPr>
          <p:cNvPr id="24" name="Rectangle 23"/>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pic>
        <p:nvPicPr>
          <p:cNvPr id="3" name="Picture 2"/>
          <p:cNvPicPr>
            <a:picLocks noChangeAspect="1"/>
          </p:cNvPicPr>
          <p:nvPr/>
        </p:nvPicPr>
        <p:blipFill>
          <a:blip r:embed="rId2"/>
          <a:stretch>
            <a:fillRect/>
          </a:stretch>
        </p:blipFill>
        <p:spPr>
          <a:xfrm>
            <a:off x="585525" y="625633"/>
            <a:ext cx="12457721" cy="6503588"/>
          </a:xfrm>
          <a:prstGeom prst="rect">
            <a:avLst/>
          </a:prstGeom>
        </p:spPr>
      </p:pic>
    </p:spTree>
    <p:extLst>
      <p:ext uri="{BB962C8B-B14F-4D97-AF65-F5344CB8AC3E}">
        <p14:creationId xmlns:p14="http://schemas.microsoft.com/office/powerpoint/2010/main" val="2469607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9849" y="679133"/>
            <a:ext cx="8657153" cy="546735"/>
          </a:xfrm>
          <a:prstGeom prst="rect">
            <a:avLst/>
          </a:prstGeom>
          <a:noFill/>
          <a:ln/>
        </p:spPr>
        <p:txBody>
          <a:bodyPr wrap="none" lIns="0" tIns="0" rIns="0" bIns="0" rtlCol="0" anchor="t"/>
          <a:lstStyle/>
          <a:p>
            <a:pPr marL="0" indent="0" algn="l">
              <a:lnSpc>
                <a:spcPts val="4300"/>
              </a:lnSpc>
              <a:buNone/>
            </a:pPr>
            <a:r>
              <a:rPr lang="en-US" sz="3400" b="1" dirty="0">
                <a:solidFill>
                  <a:srgbClr val="000000"/>
                </a:solidFill>
                <a:latin typeface="Inter Bold" pitchFamily="34" charset="0"/>
                <a:ea typeface="Inter Bold" pitchFamily="34" charset="-122"/>
                <a:cs typeface="Inter Bold" pitchFamily="34" charset="-120"/>
              </a:rPr>
              <a:t>Training Configuration and Methodology</a:t>
            </a:r>
            <a:endParaRPr lang="en-US" sz="3400" dirty="0"/>
          </a:p>
        </p:txBody>
      </p:sp>
      <p:sp>
        <p:nvSpPr>
          <p:cNvPr id="3" name="Text 1"/>
          <p:cNvSpPr/>
          <p:nvPr/>
        </p:nvSpPr>
        <p:spPr>
          <a:xfrm>
            <a:off x="699849" y="1611392"/>
            <a:ext cx="3242667" cy="328017"/>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Inter Bold" pitchFamily="34" charset="0"/>
                <a:ea typeface="Inter Bold" pitchFamily="34" charset="-122"/>
                <a:cs typeface="Inter Bold" pitchFamily="34" charset="-120"/>
              </a:rPr>
              <a:t>Hyperparameter Settings</a:t>
            </a:r>
            <a:endParaRPr lang="en-US" sz="2050" dirty="0"/>
          </a:p>
        </p:txBody>
      </p:sp>
      <p:sp>
        <p:nvSpPr>
          <p:cNvPr id="4" name="Text 2"/>
          <p:cNvSpPr/>
          <p:nvPr/>
        </p:nvSpPr>
        <p:spPr>
          <a:xfrm>
            <a:off x="699849" y="2093595"/>
            <a:ext cx="7767637" cy="1849874"/>
          </a:xfrm>
          <a:prstGeom prst="rect">
            <a:avLst/>
          </a:prstGeom>
          <a:noFill/>
          <a:ln/>
        </p:spPr>
        <p:txBody>
          <a:bodyPr wrap="square" lIns="0" tIns="0" rIns="0" bIns="0" rtlCol="0" anchor="t"/>
          <a:lstStyle/>
          <a:p>
            <a:pPr marL="342900" indent="-342900" algn="l">
              <a:lnSpc>
                <a:spcPts val="2050"/>
              </a:lnSpc>
              <a:buSzPct val="100000"/>
              <a:buChar char="•"/>
            </a:pPr>
            <a:r>
              <a:rPr lang="en-US" sz="1350" b="1" dirty="0">
                <a:solidFill>
                  <a:srgbClr val="272525"/>
                </a:solidFill>
                <a:latin typeface="Inter" pitchFamily="34" charset="0"/>
                <a:ea typeface="Inter" pitchFamily="34" charset="-122"/>
                <a:cs typeface="Inter" pitchFamily="34" charset="-120"/>
              </a:rPr>
              <a:t>Epochs:</a:t>
            </a:r>
            <a:r>
              <a:rPr lang="en-US" sz="1350" dirty="0">
                <a:solidFill>
                  <a:srgbClr val="272525"/>
                </a:solidFill>
                <a:latin typeface="Inter" pitchFamily="34" charset="0"/>
                <a:ea typeface="Inter" pitchFamily="34" charset="-122"/>
                <a:cs typeface="Inter" pitchFamily="34" charset="-120"/>
              </a:rPr>
              <a:t> 60 (vs. 30 in Method-1)</a:t>
            </a:r>
            <a:endParaRPr lang="en-US" sz="1350" dirty="0"/>
          </a:p>
          <a:p>
            <a:pPr marL="342900" indent="-342900" algn="l">
              <a:lnSpc>
                <a:spcPts val="2050"/>
              </a:lnSpc>
              <a:buSzPct val="100000"/>
              <a:buChar char="•"/>
            </a:pPr>
            <a:r>
              <a:rPr lang="en-US" sz="1350" b="1" dirty="0">
                <a:solidFill>
                  <a:srgbClr val="272525"/>
                </a:solidFill>
                <a:latin typeface="Inter" pitchFamily="34" charset="0"/>
                <a:ea typeface="Inter" pitchFamily="34" charset="-122"/>
                <a:cs typeface="Inter" pitchFamily="34" charset="-120"/>
              </a:rPr>
              <a:t>Batch Size:</a:t>
            </a:r>
            <a:r>
              <a:rPr lang="en-US" sz="1350" dirty="0">
                <a:solidFill>
                  <a:srgbClr val="272525"/>
                </a:solidFill>
                <a:latin typeface="Inter" pitchFamily="34" charset="0"/>
                <a:ea typeface="Inter" pitchFamily="34" charset="-122"/>
                <a:cs typeface="Inter" pitchFamily="34" charset="-120"/>
              </a:rPr>
              <a:t> 32</a:t>
            </a:r>
            <a:endParaRPr lang="en-US" sz="1350" dirty="0"/>
          </a:p>
          <a:p>
            <a:pPr marL="342900" indent="-342900" algn="l">
              <a:lnSpc>
                <a:spcPts val="2050"/>
              </a:lnSpc>
              <a:buSzPct val="100000"/>
              <a:buChar char="•"/>
            </a:pPr>
            <a:r>
              <a:rPr lang="en-US" sz="1350" b="1" dirty="0">
                <a:solidFill>
                  <a:srgbClr val="272525"/>
                </a:solidFill>
                <a:latin typeface="Inter" pitchFamily="34" charset="0"/>
                <a:ea typeface="Inter" pitchFamily="34" charset="-122"/>
                <a:cs typeface="Inter" pitchFamily="34" charset="-120"/>
              </a:rPr>
              <a:t>Learning Rate:</a:t>
            </a:r>
            <a:r>
              <a:rPr lang="en-US" sz="1350" dirty="0">
                <a:solidFill>
                  <a:srgbClr val="272525"/>
                </a:solidFill>
                <a:latin typeface="Inter" pitchFamily="34" charset="0"/>
                <a:ea typeface="Inter" pitchFamily="34" charset="-122"/>
                <a:cs typeface="Inter" pitchFamily="34" charset="-120"/>
              </a:rPr>
              <a:t> 0.0001 (lower for stability)</a:t>
            </a:r>
            <a:endParaRPr lang="en-US" sz="1350" dirty="0"/>
          </a:p>
          <a:p>
            <a:pPr marL="342900" indent="-342900" algn="l">
              <a:lnSpc>
                <a:spcPts val="2050"/>
              </a:lnSpc>
              <a:buSzPct val="100000"/>
              <a:buChar char="•"/>
            </a:pPr>
            <a:r>
              <a:rPr lang="en-US" sz="1350" b="1" dirty="0">
                <a:solidFill>
                  <a:srgbClr val="272525"/>
                </a:solidFill>
                <a:latin typeface="Inter" pitchFamily="34" charset="0"/>
                <a:ea typeface="Inter" pitchFamily="34" charset="-122"/>
                <a:cs typeface="Inter" pitchFamily="34" charset="-120"/>
              </a:rPr>
              <a:t>Optimizer:</a:t>
            </a:r>
            <a:r>
              <a:rPr lang="en-US" sz="1350" dirty="0">
                <a:solidFill>
                  <a:srgbClr val="272525"/>
                </a:solidFill>
                <a:latin typeface="Inter" pitchFamily="34" charset="0"/>
                <a:ea typeface="Inter" pitchFamily="34" charset="-122"/>
                <a:cs typeface="Inter" pitchFamily="34" charset="-120"/>
              </a:rPr>
              <a:t> Adam with scheduling</a:t>
            </a:r>
            <a:endParaRPr lang="en-US" sz="1350" dirty="0"/>
          </a:p>
          <a:p>
            <a:pPr marL="342900" indent="-342900" algn="l">
              <a:lnSpc>
                <a:spcPts val="2050"/>
              </a:lnSpc>
              <a:buSzPct val="100000"/>
              <a:buChar char="•"/>
            </a:pPr>
            <a:r>
              <a:rPr lang="en-US" sz="1350" b="1" dirty="0">
                <a:solidFill>
                  <a:srgbClr val="272525"/>
                </a:solidFill>
                <a:latin typeface="Inter" pitchFamily="34" charset="0"/>
                <a:ea typeface="Inter" pitchFamily="34" charset="-122"/>
                <a:cs typeface="Inter" pitchFamily="34" charset="-120"/>
              </a:rPr>
              <a:t>Advanced data augmentation</a:t>
            </a:r>
            <a:r>
              <a:rPr lang="en-US" sz="1350" dirty="0">
                <a:solidFill>
                  <a:srgbClr val="272525"/>
                </a:solidFill>
                <a:latin typeface="Inter" pitchFamily="34" charset="0"/>
                <a:ea typeface="Inter" pitchFamily="34" charset="-122"/>
                <a:cs typeface="Inter" pitchFamily="34" charset="-120"/>
              </a:rPr>
              <a:t> for robustness</a:t>
            </a:r>
            <a:endParaRPr lang="en-US" sz="1350" dirty="0"/>
          </a:p>
          <a:p>
            <a:pPr marL="342900" indent="-342900" algn="l">
              <a:lnSpc>
                <a:spcPts val="2050"/>
              </a:lnSpc>
              <a:buSzPct val="100000"/>
              <a:buChar char="•"/>
            </a:pPr>
            <a:r>
              <a:rPr lang="en-US" sz="1350" b="1" dirty="0">
                <a:solidFill>
                  <a:srgbClr val="272525"/>
                </a:solidFill>
                <a:latin typeface="Inter" pitchFamily="34" charset="0"/>
                <a:ea typeface="Inter" pitchFamily="34" charset="-122"/>
                <a:cs typeface="Inter" pitchFamily="34" charset="-120"/>
              </a:rPr>
              <a:t>Progressive dropout:</a:t>
            </a:r>
            <a:r>
              <a:rPr lang="en-US" sz="1350" dirty="0">
                <a:solidFill>
                  <a:srgbClr val="272525"/>
                </a:solidFill>
                <a:latin typeface="Inter" pitchFamily="34" charset="0"/>
                <a:ea typeface="Inter" pitchFamily="34" charset="-122"/>
                <a:cs typeface="Inter" pitchFamily="34" charset="-120"/>
              </a:rPr>
              <a:t> 0.2→0.4</a:t>
            </a:r>
            <a:endParaRPr lang="en-US" sz="1350" dirty="0"/>
          </a:p>
        </p:txBody>
      </p:sp>
      <p:sp>
        <p:nvSpPr>
          <p:cNvPr id="5" name="Text 3"/>
          <p:cNvSpPr/>
          <p:nvPr/>
        </p:nvSpPr>
        <p:spPr>
          <a:xfrm>
            <a:off x="699849" y="4082296"/>
            <a:ext cx="7767637" cy="263366"/>
          </a:xfrm>
          <a:prstGeom prst="rect">
            <a:avLst/>
          </a:prstGeom>
          <a:noFill/>
          <a:ln/>
        </p:spPr>
        <p:txBody>
          <a:bodyPr wrap="none" lIns="0" tIns="0" rIns="0" bIns="0" rtlCol="0" anchor="t"/>
          <a:lstStyle/>
          <a:p>
            <a:pPr marL="0" indent="0" algn="l">
              <a:lnSpc>
                <a:spcPts val="2050"/>
              </a:lnSpc>
              <a:buNone/>
            </a:pPr>
            <a:r>
              <a:rPr lang="en-US" sz="1350" b="1" dirty="0">
                <a:solidFill>
                  <a:srgbClr val="272525"/>
                </a:solidFill>
                <a:latin typeface="Inter" pitchFamily="34" charset="0"/>
                <a:ea typeface="Inter" pitchFamily="34" charset="-122"/>
                <a:cs typeface="Inter" pitchFamily="34" charset="-120"/>
              </a:rPr>
              <a:t>Training Time:</a:t>
            </a:r>
            <a:r>
              <a:rPr lang="en-US" sz="1350" dirty="0">
                <a:solidFill>
                  <a:srgbClr val="272525"/>
                </a:solidFill>
                <a:latin typeface="Inter" pitchFamily="34" charset="0"/>
                <a:ea typeface="Inter" pitchFamily="34" charset="-122"/>
                <a:cs typeface="Inter" pitchFamily="34" charset="-120"/>
              </a:rPr>
              <a:t> ~55 minutes on Tesla T4 GPU</a:t>
            </a:r>
            <a:endParaRPr lang="en-US" sz="1350" dirty="0"/>
          </a:p>
        </p:txBody>
      </p:sp>
      <p:sp>
        <p:nvSpPr>
          <p:cNvPr id="6" name="Text 4"/>
          <p:cNvSpPr/>
          <p:nvPr/>
        </p:nvSpPr>
        <p:spPr>
          <a:xfrm>
            <a:off x="699849" y="4484489"/>
            <a:ext cx="7767637" cy="263366"/>
          </a:xfrm>
          <a:prstGeom prst="rect">
            <a:avLst/>
          </a:prstGeom>
          <a:noFill/>
          <a:ln/>
        </p:spPr>
        <p:txBody>
          <a:bodyPr wrap="none" lIns="0" tIns="0" rIns="0" bIns="0" rtlCol="0" anchor="t"/>
          <a:lstStyle/>
          <a:p>
            <a:pPr marL="0" indent="0" algn="l">
              <a:lnSpc>
                <a:spcPts val="2050"/>
              </a:lnSpc>
              <a:buNone/>
            </a:pPr>
            <a:r>
              <a:rPr lang="en-US" sz="1350" b="1" dirty="0">
                <a:solidFill>
                  <a:srgbClr val="272525"/>
                </a:solidFill>
                <a:latin typeface="Inter" pitchFamily="34" charset="0"/>
                <a:ea typeface="Inter" pitchFamily="34" charset="-122"/>
                <a:cs typeface="Inter" pitchFamily="34" charset="-120"/>
              </a:rPr>
              <a:t>Total Parameters:</a:t>
            </a:r>
            <a:r>
              <a:rPr lang="en-US" sz="1350" dirty="0">
                <a:solidFill>
                  <a:srgbClr val="272525"/>
                </a:solidFill>
                <a:latin typeface="Inter" pitchFamily="34" charset="0"/>
                <a:ea typeface="Inter" pitchFamily="34" charset="-122"/>
                <a:cs typeface="Inter" pitchFamily="34" charset="-120"/>
              </a:rPr>
              <a:t> ~18M (optimized architecture)</a:t>
            </a:r>
            <a:endParaRPr lang="en-US" sz="1350" dirty="0"/>
          </a:p>
        </p:txBody>
      </p:sp>
      <p:sp>
        <p:nvSpPr>
          <p:cNvPr id="7" name="Text 5"/>
          <p:cNvSpPr/>
          <p:nvPr/>
        </p:nvSpPr>
        <p:spPr>
          <a:xfrm>
            <a:off x="8901827" y="1596033"/>
            <a:ext cx="5036225" cy="263366"/>
          </a:xfrm>
          <a:prstGeom prst="rect">
            <a:avLst/>
          </a:prstGeom>
          <a:noFill/>
          <a:ln/>
        </p:spPr>
        <p:txBody>
          <a:bodyPr wrap="none" lIns="0" tIns="0" rIns="0" bIns="0" rtlCol="0" anchor="t"/>
          <a:lstStyle/>
          <a:p>
            <a:pPr marL="0" indent="0" algn="l">
              <a:lnSpc>
                <a:spcPts val="2050"/>
              </a:lnSpc>
              <a:buNone/>
            </a:pPr>
            <a:endParaRPr lang="en-US" sz="1350" dirty="0"/>
          </a:p>
        </p:txBody>
      </p:sp>
      <p:sp>
        <p:nvSpPr>
          <p:cNvPr id="8" name="Text 6"/>
          <p:cNvSpPr/>
          <p:nvPr/>
        </p:nvSpPr>
        <p:spPr>
          <a:xfrm>
            <a:off x="699849" y="5060156"/>
            <a:ext cx="174903" cy="218718"/>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Light" pitchFamily="34" charset="0"/>
                <a:ea typeface="Inter Light" pitchFamily="34" charset="-122"/>
                <a:cs typeface="Inter Light" pitchFamily="34" charset="-120"/>
              </a:rPr>
              <a:t>01</a:t>
            </a:r>
            <a:endParaRPr lang="en-US" sz="1350" dirty="0"/>
          </a:p>
        </p:txBody>
      </p:sp>
      <p:sp>
        <p:nvSpPr>
          <p:cNvPr id="9" name="Shape 7"/>
          <p:cNvSpPr/>
          <p:nvPr/>
        </p:nvSpPr>
        <p:spPr>
          <a:xfrm>
            <a:off x="699849" y="5334595"/>
            <a:ext cx="6538198" cy="22860"/>
          </a:xfrm>
          <a:prstGeom prst="rect">
            <a:avLst/>
          </a:prstGeom>
          <a:solidFill>
            <a:srgbClr val="4950BC"/>
          </a:solidFill>
          <a:ln/>
        </p:spPr>
      </p:sp>
      <p:sp>
        <p:nvSpPr>
          <p:cNvPr id="10" name="Text 8"/>
          <p:cNvSpPr/>
          <p:nvPr/>
        </p:nvSpPr>
        <p:spPr>
          <a:xfrm>
            <a:off x="699849" y="5467707"/>
            <a:ext cx="2187178"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Initialization</a:t>
            </a:r>
            <a:endParaRPr lang="en-US" sz="1700" dirty="0"/>
          </a:p>
        </p:txBody>
      </p:sp>
      <p:sp>
        <p:nvSpPr>
          <p:cNvPr id="11" name="Text 9"/>
          <p:cNvSpPr/>
          <p:nvPr/>
        </p:nvSpPr>
        <p:spPr>
          <a:xfrm>
            <a:off x="699849" y="5833586"/>
            <a:ext cx="6538198" cy="263366"/>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Model architecture construction with 5 CNN blocks and LSTM layers</a:t>
            </a:r>
            <a:endParaRPr lang="en-US" sz="1350" dirty="0"/>
          </a:p>
        </p:txBody>
      </p:sp>
      <p:sp>
        <p:nvSpPr>
          <p:cNvPr id="12" name="Text 10"/>
          <p:cNvSpPr/>
          <p:nvPr/>
        </p:nvSpPr>
        <p:spPr>
          <a:xfrm>
            <a:off x="7392233" y="5060156"/>
            <a:ext cx="174903" cy="218718"/>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Light" pitchFamily="34" charset="0"/>
                <a:ea typeface="Inter Light" pitchFamily="34" charset="-122"/>
                <a:cs typeface="Inter Light" pitchFamily="34" charset="-120"/>
              </a:rPr>
              <a:t>02</a:t>
            </a:r>
            <a:endParaRPr lang="en-US" sz="1350" dirty="0"/>
          </a:p>
        </p:txBody>
      </p:sp>
      <p:sp>
        <p:nvSpPr>
          <p:cNvPr id="13" name="Shape 11"/>
          <p:cNvSpPr/>
          <p:nvPr/>
        </p:nvSpPr>
        <p:spPr>
          <a:xfrm>
            <a:off x="7392233" y="5334595"/>
            <a:ext cx="6538317" cy="22860"/>
          </a:xfrm>
          <a:prstGeom prst="rect">
            <a:avLst/>
          </a:prstGeom>
          <a:solidFill>
            <a:srgbClr val="4950BC"/>
          </a:solidFill>
          <a:ln/>
        </p:spPr>
      </p:sp>
      <p:sp>
        <p:nvSpPr>
          <p:cNvPr id="14" name="Text 12"/>
          <p:cNvSpPr/>
          <p:nvPr/>
        </p:nvSpPr>
        <p:spPr>
          <a:xfrm>
            <a:off x="7392233" y="5467707"/>
            <a:ext cx="2187178"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Compilation</a:t>
            </a:r>
            <a:endParaRPr lang="en-US" sz="1700" dirty="0"/>
          </a:p>
        </p:txBody>
      </p:sp>
      <p:sp>
        <p:nvSpPr>
          <p:cNvPr id="15" name="Text 13"/>
          <p:cNvSpPr/>
          <p:nvPr/>
        </p:nvSpPr>
        <p:spPr>
          <a:xfrm>
            <a:off x="7392233" y="5833586"/>
            <a:ext cx="6538317" cy="263366"/>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Configure optimizer, loss function, and metrics</a:t>
            </a:r>
            <a:endParaRPr lang="en-US" sz="1350" dirty="0"/>
          </a:p>
        </p:txBody>
      </p:sp>
      <p:sp>
        <p:nvSpPr>
          <p:cNvPr id="16" name="Text 14"/>
          <p:cNvSpPr/>
          <p:nvPr/>
        </p:nvSpPr>
        <p:spPr>
          <a:xfrm>
            <a:off x="699849" y="6382345"/>
            <a:ext cx="174903" cy="218718"/>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Light" pitchFamily="34" charset="0"/>
                <a:ea typeface="Inter Light" pitchFamily="34" charset="-122"/>
                <a:cs typeface="Inter Light" pitchFamily="34" charset="-120"/>
              </a:rPr>
              <a:t>03</a:t>
            </a:r>
            <a:endParaRPr lang="en-US" sz="1350" dirty="0"/>
          </a:p>
        </p:txBody>
      </p:sp>
      <p:sp>
        <p:nvSpPr>
          <p:cNvPr id="17" name="Shape 15"/>
          <p:cNvSpPr/>
          <p:nvPr/>
        </p:nvSpPr>
        <p:spPr>
          <a:xfrm>
            <a:off x="699849" y="6656784"/>
            <a:ext cx="6538198" cy="22860"/>
          </a:xfrm>
          <a:prstGeom prst="rect">
            <a:avLst/>
          </a:prstGeom>
          <a:solidFill>
            <a:srgbClr val="4950BC"/>
          </a:solidFill>
          <a:ln/>
        </p:spPr>
      </p:sp>
      <p:sp>
        <p:nvSpPr>
          <p:cNvPr id="18" name="Text 16"/>
          <p:cNvSpPr/>
          <p:nvPr/>
        </p:nvSpPr>
        <p:spPr>
          <a:xfrm>
            <a:off x="699849" y="6789896"/>
            <a:ext cx="2187178"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Training Loop</a:t>
            </a:r>
            <a:endParaRPr lang="en-US" sz="1700" dirty="0"/>
          </a:p>
        </p:txBody>
      </p:sp>
      <p:sp>
        <p:nvSpPr>
          <p:cNvPr id="19" name="Text 17"/>
          <p:cNvSpPr/>
          <p:nvPr/>
        </p:nvSpPr>
        <p:spPr>
          <a:xfrm>
            <a:off x="699849" y="7155775"/>
            <a:ext cx="6538198" cy="263366"/>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60 epochs with validation monitoring and early stopping</a:t>
            </a:r>
            <a:endParaRPr lang="en-US" sz="1350" dirty="0"/>
          </a:p>
        </p:txBody>
      </p:sp>
      <p:sp>
        <p:nvSpPr>
          <p:cNvPr id="20" name="Text 18"/>
          <p:cNvSpPr/>
          <p:nvPr/>
        </p:nvSpPr>
        <p:spPr>
          <a:xfrm>
            <a:off x="7392233" y="6382345"/>
            <a:ext cx="174903" cy="218718"/>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Light" pitchFamily="34" charset="0"/>
                <a:ea typeface="Inter Light" pitchFamily="34" charset="-122"/>
                <a:cs typeface="Inter Light" pitchFamily="34" charset="-120"/>
              </a:rPr>
              <a:t>04</a:t>
            </a:r>
            <a:endParaRPr lang="en-US" sz="1350" dirty="0"/>
          </a:p>
        </p:txBody>
      </p:sp>
      <p:sp>
        <p:nvSpPr>
          <p:cNvPr id="21" name="Shape 19"/>
          <p:cNvSpPr/>
          <p:nvPr/>
        </p:nvSpPr>
        <p:spPr>
          <a:xfrm>
            <a:off x="7392233" y="6656784"/>
            <a:ext cx="6538317" cy="22860"/>
          </a:xfrm>
          <a:prstGeom prst="rect">
            <a:avLst/>
          </a:prstGeom>
          <a:solidFill>
            <a:srgbClr val="4950BC"/>
          </a:solidFill>
          <a:ln/>
        </p:spPr>
      </p:sp>
      <p:sp>
        <p:nvSpPr>
          <p:cNvPr id="22" name="Text 20"/>
          <p:cNvSpPr/>
          <p:nvPr/>
        </p:nvSpPr>
        <p:spPr>
          <a:xfrm>
            <a:off x="7392233" y="6789896"/>
            <a:ext cx="2187178"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Evaluation</a:t>
            </a:r>
            <a:endParaRPr lang="en-US" sz="1700" dirty="0"/>
          </a:p>
        </p:txBody>
      </p:sp>
      <p:sp>
        <p:nvSpPr>
          <p:cNvPr id="23" name="Text 21"/>
          <p:cNvSpPr/>
          <p:nvPr/>
        </p:nvSpPr>
        <p:spPr>
          <a:xfrm>
            <a:off x="7392233" y="7155775"/>
            <a:ext cx="6538317" cy="263366"/>
          </a:xfrm>
          <a:prstGeom prst="rect">
            <a:avLst/>
          </a:prstGeom>
          <a:noFill/>
          <a:ln/>
        </p:spPr>
        <p:txBody>
          <a:bodyPr wrap="non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Comprehensive testing on held-out test set</a:t>
            </a:r>
            <a:endParaRPr lang="en-US" sz="1350" dirty="0"/>
          </a:p>
        </p:txBody>
      </p:sp>
      <p:sp>
        <p:nvSpPr>
          <p:cNvPr id="24" name="Rectangle 23"/>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pic>
        <p:nvPicPr>
          <p:cNvPr id="3" name="Picture 2"/>
          <p:cNvPicPr>
            <a:picLocks noChangeAspect="1"/>
          </p:cNvPicPr>
          <p:nvPr/>
        </p:nvPicPr>
        <p:blipFill>
          <a:blip r:embed="rId2"/>
          <a:stretch>
            <a:fillRect/>
          </a:stretch>
        </p:blipFill>
        <p:spPr>
          <a:xfrm>
            <a:off x="3301140" y="92988"/>
            <a:ext cx="7041736" cy="8033145"/>
          </a:xfrm>
          <a:prstGeom prst="rect">
            <a:avLst/>
          </a:prstGeom>
        </p:spPr>
      </p:pic>
    </p:spTree>
    <p:extLst>
      <p:ext uri="{BB962C8B-B14F-4D97-AF65-F5344CB8AC3E}">
        <p14:creationId xmlns:p14="http://schemas.microsoft.com/office/powerpoint/2010/main" val="1626777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446014" y="893564"/>
            <a:ext cx="5369838" cy="465177"/>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Inter Bold" pitchFamily="34" charset="0"/>
                <a:ea typeface="Inter Bold" pitchFamily="34" charset="-122"/>
                <a:cs typeface="Inter Bold" pitchFamily="34" charset="-120"/>
              </a:rPr>
              <a:t>Test Set Performance Results</a:t>
            </a:r>
            <a:endParaRPr lang="en-US" sz="2900" dirty="0"/>
          </a:p>
        </p:txBody>
      </p:sp>
      <p:sp>
        <p:nvSpPr>
          <p:cNvPr id="3" name="Shape 1"/>
          <p:cNvSpPr/>
          <p:nvPr/>
        </p:nvSpPr>
        <p:spPr>
          <a:xfrm>
            <a:off x="1446014" y="1581983"/>
            <a:ext cx="11738253" cy="2159794"/>
          </a:xfrm>
          <a:prstGeom prst="roundRect">
            <a:avLst>
              <a:gd name="adj" fmla="val 2895"/>
            </a:avLst>
          </a:prstGeom>
          <a:noFill/>
          <a:ln w="7620">
            <a:solidFill>
              <a:srgbClr val="000000">
                <a:alpha val="8000"/>
              </a:srgbClr>
            </a:solidFill>
            <a:prstDash val="solid"/>
          </a:ln>
        </p:spPr>
      </p:sp>
      <p:sp>
        <p:nvSpPr>
          <p:cNvPr id="4" name="Shape 2"/>
          <p:cNvSpPr/>
          <p:nvPr/>
        </p:nvSpPr>
        <p:spPr>
          <a:xfrm>
            <a:off x="1453634" y="1589603"/>
            <a:ext cx="11723013" cy="357426"/>
          </a:xfrm>
          <a:prstGeom prst="rect">
            <a:avLst/>
          </a:prstGeom>
          <a:solidFill>
            <a:srgbClr val="FFFFFF">
              <a:alpha val="4000"/>
            </a:srgbClr>
          </a:solidFill>
          <a:ln/>
        </p:spPr>
      </p:sp>
      <p:sp>
        <p:nvSpPr>
          <p:cNvPr id="5" name="Text 3"/>
          <p:cNvSpPr/>
          <p:nvPr/>
        </p:nvSpPr>
        <p:spPr>
          <a:xfrm>
            <a:off x="1602581" y="1664137"/>
            <a:ext cx="4387691" cy="208359"/>
          </a:xfrm>
          <a:prstGeom prst="rect">
            <a:avLst/>
          </a:prstGeom>
          <a:noFill/>
          <a:ln/>
        </p:spPr>
        <p:txBody>
          <a:bodyPr wrap="none" lIns="0" tIns="0" rIns="0" bIns="0" rtlCol="0" anchor="t"/>
          <a:lstStyle/>
          <a:p>
            <a:pPr marL="0" indent="0" algn="l">
              <a:lnSpc>
                <a:spcPts val="1600"/>
              </a:lnSpc>
              <a:buNone/>
            </a:pPr>
            <a:r>
              <a:rPr lang="en-US" sz="1150" b="1" dirty="0">
                <a:solidFill>
                  <a:srgbClr val="272525"/>
                </a:solidFill>
                <a:latin typeface="Inter" pitchFamily="34" charset="0"/>
                <a:ea typeface="Inter" pitchFamily="34" charset="-122"/>
                <a:cs typeface="Inter" pitchFamily="34" charset="-120"/>
              </a:rPr>
              <a:t>Metric</a:t>
            </a:r>
            <a:endParaRPr lang="en-US" sz="1150" dirty="0"/>
          </a:p>
        </p:txBody>
      </p:sp>
      <p:sp>
        <p:nvSpPr>
          <p:cNvPr id="6" name="Text 4"/>
          <p:cNvSpPr/>
          <p:nvPr/>
        </p:nvSpPr>
        <p:spPr>
          <a:xfrm>
            <a:off x="6295549" y="1664137"/>
            <a:ext cx="3211592" cy="208359"/>
          </a:xfrm>
          <a:prstGeom prst="rect">
            <a:avLst/>
          </a:prstGeom>
          <a:noFill/>
          <a:ln/>
        </p:spPr>
        <p:txBody>
          <a:bodyPr wrap="none" lIns="0" tIns="0" rIns="0" bIns="0" rtlCol="0" anchor="t"/>
          <a:lstStyle/>
          <a:p>
            <a:pPr marL="0" indent="0" algn="l">
              <a:lnSpc>
                <a:spcPts val="1600"/>
              </a:lnSpc>
              <a:buNone/>
            </a:pPr>
            <a:r>
              <a:rPr lang="en-US" sz="1150" b="1" dirty="0">
                <a:solidFill>
                  <a:srgbClr val="272525"/>
                </a:solidFill>
                <a:latin typeface="Inter" pitchFamily="34" charset="0"/>
                <a:ea typeface="Inter" pitchFamily="34" charset="-122"/>
                <a:cs typeface="Inter" pitchFamily="34" charset="-120"/>
              </a:rPr>
              <a:t>Score</a:t>
            </a:r>
            <a:endParaRPr lang="en-US" sz="1150" dirty="0"/>
          </a:p>
        </p:txBody>
      </p:sp>
      <p:sp>
        <p:nvSpPr>
          <p:cNvPr id="7" name="Text 5"/>
          <p:cNvSpPr/>
          <p:nvPr/>
        </p:nvSpPr>
        <p:spPr>
          <a:xfrm>
            <a:off x="9812417" y="1664137"/>
            <a:ext cx="3215402" cy="208359"/>
          </a:xfrm>
          <a:prstGeom prst="rect">
            <a:avLst/>
          </a:prstGeom>
          <a:noFill/>
          <a:ln/>
        </p:spPr>
        <p:txBody>
          <a:bodyPr wrap="none" lIns="0" tIns="0" rIns="0" bIns="0" rtlCol="0" anchor="t"/>
          <a:lstStyle/>
          <a:p>
            <a:pPr marL="0" indent="0" algn="l">
              <a:lnSpc>
                <a:spcPts val="1600"/>
              </a:lnSpc>
              <a:buNone/>
            </a:pPr>
            <a:r>
              <a:rPr lang="en-US" sz="1150" b="1" dirty="0">
                <a:solidFill>
                  <a:srgbClr val="272525"/>
                </a:solidFill>
                <a:latin typeface="Inter" pitchFamily="34" charset="0"/>
                <a:ea typeface="Inter" pitchFamily="34" charset="-122"/>
                <a:cs typeface="Inter" pitchFamily="34" charset="-120"/>
              </a:rPr>
              <a:t>Target</a:t>
            </a:r>
            <a:endParaRPr lang="en-US" sz="1150" dirty="0"/>
          </a:p>
        </p:txBody>
      </p:sp>
      <p:sp>
        <p:nvSpPr>
          <p:cNvPr id="8" name="Shape 6"/>
          <p:cNvSpPr/>
          <p:nvPr/>
        </p:nvSpPr>
        <p:spPr>
          <a:xfrm>
            <a:off x="1453634" y="1947029"/>
            <a:ext cx="11723013" cy="357426"/>
          </a:xfrm>
          <a:prstGeom prst="rect">
            <a:avLst/>
          </a:prstGeom>
          <a:solidFill>
            <a:srgbClr val="000000">
              <a:alpha val="4000"/>
            </a:srgbClr>
          </a:solidFill>
          <a:ln/>
        </p:spPr>
      </p:sp>
      <p:sp>
        <p:nvSpPr>
          <p:cNvPr id="9" name="Text 7"/>
          <p:cNvSpPr/>
          <p:nvPr/>
        </p:nvSpPr>
        <p:spPr>
          <a:xfrm>
            <a:off x="1602581" y="2021562"/>
            <a:ext cx="4387691"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Accuracy</a:t>
            </a:r>
            <a:endParaRPr lang="en-US" sz="1150" dirty="0"/>
          </a:p>
        </p:txBody>
      </p:sp>
      <p:sp>
        <p:nvSpPr>
          <p:cNvPr id="10" name="Text 8"/>
          <p:cNvSpPr/>
          <p:nvPr/>
        </p:nvSpPr>
        <p:spPr>
          <a:xfrm>
            <a:off x="6295549" y="2021562"/>
            <a:ext cx="321159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96.75%</a:t>
            </a:r>
            <a:endParaRPr lang="en-US" sz="1150" dirty="0"/>
          </a:p>
        </p:txBody>
      </p:sp>
      <p:sp>
        <p:nvSpPr>
          <p:cNvPr id="11" name="Text 9"/>
          <p:cNvSpPr/>
          <p:nvPr/>
        </p:nvSpPr>
        <p:spPr>
          <a:xfrm>
            <a:off x="9812417" y="2021562"/>
            <a:ext cx="321540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&gt;95%</a:t>
            </a:r>
            <a:endParaRPr lang="en-US" sz="1150" dirty="0"/>
          </a:p>
        </p:txBody>
      </p:sp>
      <p:sp>
        <p:nvSpPr>
          <p:cNvPr id="12" name="Shape 10"/>
          <p:cNvSpPr/>
          <p:nvPr/>
        </p:nvSpPr>
        <p:spPr>
          <a:xfrm>
            <a:off x="1453634" y="2304455"/>
            <a:ext cx="11723013" cy="357426"/>
          </a:xfrm>
          <a:prstGeom prst="rect">
            <a:avLst/>
          </a:prstGeom>
          <a:solidFill>
            <a:srgbClr val="FFFFFF">
              <a:alpha val="4000"/>
            </a:srgbClr>
          </a:solidFill>
          <a:ln/>
        </p:spPr>
      </p:sp>
      <p:sp>
        <p:nvSpPr>
          <p:cNvPr id="13" name="Text 11"/>
          <p:cNvSpPr/>
          <p:nvPr/>
        </p:nvSpPr>
        <p:spPr>
          <a:xfrm>
            <a:off x="1602581" y="2378988"/>
            <a:ext cx="4387691"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Precision</a:t>
            </a:r>
            <a:endParaRPr lang="en-US" sz="1150" dirty="0"/>
          </a:p>
        </p:txBody>
      </p:sp>
      <p:sp>
        <p:nvSpPr>
          <p:cNvPr id="14" name="Text 12"/>
          <p:cNvSpPr/>
          <p:nvPr/>
        </p:nvSpPr>
        <p:spPr>
          <a:xfrm>
            <a:off x="6295549" y="2378988"/>
            <a:ext cx="321159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96.42%</a:t>
            </a:r>
            <a:endParaRPr lang="en-US" sz="1150" dirty="0"/>
          </a:p>
        </p:txBody>
      </p:sp>
      <p:sp>
        <p:nvSpPr>
          <p:cNvPr id="15" name="Text 13"/>
          <p:cNvSpPr/>
          <p:nvPr/>
        </p:nvSpPr>
        <p:spPr>
          <a:xfrm>
            <a:off x="9812417" y="2378988"/>
            <a:ext cx="321540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t>
            </a:r>
            <a:endParaRPr lang="en-US" sz="1150" dirty="0"/>
          </a:p>
        </p:txBody>
      </p:sp>
      <p:sp>
        <p:nvSpPr>
          <p:cNvPr id="16" name="Shape 14"/>
          <p:cNvSpPr/>
          <p:nvPr/>
        </p:nvSpPr>
        <p:spPr>
          <a:xfrm>
            <a:off x="1453634" y="2661880"/>
            <a:ext cx="11723013" cy="357426"/>
          </a:xfrm>
          <a:prstGeom prst="rect">
            <a:avLst/>
          </a:prstGeom>
          <a:solidFill>
            <a:srgbClr val="000000">
              <a:alpha val="4000"/>
            </a:srgbClr>
          </a:solidFill>
          <a:ln/>
        </p:spPr>
      </p:sp>
      <p:sp>
        <p:nvSpPr>
          <p:cNvPr id="17" name="Text 15"/>
          <p:cNvSpPr/>
          <p:nvPr/>
        </p:nvSpPr>
        <p:spPr>
          <a:xfrm>
            <a:off x="1602581" y="2736413"/>
            <a:ext cx="4387691"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Recall</a:t>
            </a:r>
            <a:endParaRPr lang="en-US" sz="1150" dirty="0"/>
          </a:p>
        </p:txBody>
      </p:sp>
      <p:sp>
        <p:nvSpPr>
          <p:cNvPr id="18" name="Text 16"/>
          <p:cNvSpPr/>
          <p:nvPr/>
        </p:nvSpPr>
        <p:spPr>
          <a:xfrm>
            <a:off x="6295549" y="2736413"/>
            <a:ext cx="321159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96.53%</a:t>
            </a:r>
            <a:endParaRPr lang="en-US" sz="1150" dirty="0"/>
          </a:p>
        </p:txBody>
      </p:sp>
      <p:sp>
        <p:nvSpPr>
          <p:cNvPr id="19" name="Text 17"/>
          <p:cNvSpPr/>
          <p:nvPr/>
        </p:nvSpPr>
        <p:spPr>
          <a:xfrm>
            <a:off x="9812417" y="2736413"/>
            <a:ext cx="321540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t>
            </a:r>
            <a:endParaRPr lang="en-US" sz="1150" dirty="0"/>
          </a:p>
        </p:txBody>
      </p:sp>
      <p:sp>
        <p:nvSpPr>
          <p:cNvPr id="20" name="Shape 18"/>
          <p:cNvSpPr/>
          <p:nvPr/>
        </p:nvSpPr>
        <p:spPr>
          <a:xfrm>
            <a:off x="1453634" y="3019306"/>
            <a:ext cx="11723013" cy="357426"/>
          </a:xfrm>
          <a:prstGeom prst="rect">
            <a:avLst/>
          </a:prstGeom>
          <a:solidFill>
            <a:srgbClr val="FFFFFF">
              <a:alpha val="4000"/>
            </a:srgbClr>
          </a:solidFill>
          <a:ln/>
        </p:spPr>
      </p:sp>
      <p:sp>
        <p:nvSpPr>
          <p:cNvPr id="21" name="Text 19"/>
          <p:cNvSpPr/>
          <p:nvPr/>
        </p:nvSpPr>
        <p:spPr>
          <a:xfrm>
            <a:off x="1602581" y="3093839"/>
            <a:ext cx="4387691"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F1-Score</a:t>
            </a:r>
            <a:endParaRPr lang="en-US" sz="1150" dirty="0"/>
          </a:p>
        </p:txBody>
      </p:sp>
      <p:sp>
        <p:nvSpPr>
          <p:cNvPr id="22" name="Text 20"/>
          <p:cNvSpPr/>
          <p:nvPr/>
        </p:nvSpPr>
        <p:spPr>
          <a:xfrm>
            <a:off x="6295549" y="3093839"/>
            <a:ext cx="321159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96.47%</a:t>
            </a:r>
            <a:endParaRPr lang="en-US" sz="1150" dirty="0"/>
          </a:p>
        </p:txBody>
      </p:sp>
      <p:sp>
        <p:nvSpPr>
          <p:cNvPr id="23" name="Text 21"/>
          <p:cNvSpPr/>
          <p:nvPr/>
        </p:nvSpPr>
        <p:spPr>
          <a:xfrm>
            <a:off x="9812417" y="3093839"/>
            <a:ext cx="321540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t>
            </a:r>
            <a:endParaRPr lang="en-US" sz="1150" dirty="0"/>
          </a:p>
        </p:txBody>
      </p:sp>
      <p:sp>
        <p:nvSpPr>
          <p:cNvPr id="24" name="Shape 22"/>
          <p:cNvSpPr/>
          <p:nvPr/>
        </p:nvSpPr>
        <p:spPr>
          <a:xfrm>
            <a:off x="1453634" y="3376732"/>
            <a:ext cx="11723013" cy="357426"/>
          </a:xfrm>
          <a:prstGeom prst="rect">
            <a:avLst/>
          </a:prstGeom>
          <a:solidFill>
            <a:srgbClr val="000000">
              <a:alpha val="4000"/>
            </a:srgbClr>
          </a:solidFill>
          <a:ln/>
        </p:spPr>
      </p:sp>
      <p:sp>
        <p:nvSpPr>
          <p:cNvPr id="25" name="Text 23"/>
          <p:cNvSpPr/>
          <p:nvPr/>
        </p:nvSpPr>
        <p:spPr>
          <a:xfrm>
            <a:off x="1602581" y="3451265"/>
            <a:ext cx="4387691"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ROC-AUC</a:t>
            </a:r>
            <a:endParaRPr lang="en-US" sz="1150" dirty="0"/>
          </a:p>
        </p:txBody>
      </p:sp>
      <p:sp>
        <p:nvSpPr>
          <p:cNvPr id="26" name="Text 24"/>
          <p:cNvSpPr/>
          <p:nvPr/>
        </p:nvSpPr>
        <p:spPr>
          <a:xfrm>
            <a:off x="6295549" y="3451265"/>
            <a:ext cx="321159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99.12%</a:t>
            </a:r>
            <a:endParaRPr lang="en-US" sz="1150" dirty="0"/>
          </a:p>
        </p:txBody>
      </p:sp>
      <p:sp>
        <p:nvSpPr>
          <p:cNvPr id="27" name="Text 25"/>
          <p:cNvSpPr/>
          <p:nvPr/>
        </p:nvSpPr>
        <p:spPr>
          <a:xfrm>
            <a:off x="9812417" y="3451265"/>
            <a:ext cx="3215402" cy="208359"/>
          </a:xfrm>
          <a:prstGeom prst="rect">
            <a:avLst/>
          </a:prstGeom>
          <a:noFill/>
          <a:ln/>
        </p:spPr>
        <p:txBody>
          <a:bodyPr wrap="non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a:t>
            </a:r>
            <a:endParaRPr lang="en-US" sz="1150" dirty="0"/>
          </a:p>
        </p:txBody>
      </p:sp>
      <p:sp>
        <p:nvSpPr>
          <p:cNvPr id="28" name="Text 26"/>
          <p:cNvSpPr/>
          <p:nvPr/>
        </p:nvSpPr>
        <p:spPr>
          <a:xfrm>
            <a:off x="2440305" y="4834652"/>
            <a:ext cx="1830824" cy="372070"/>
          </a:xfrm>
          <a:prstGeom prst="rect">
            <a:avLst/>
          </a:prstGeom>
          <a:noFill/>
          <a:ln/>
        </p:spPr>
        <p:txBody>
          <a:bodyPr wrap="none" lIns="0" tIns="0" rIns="0" bIns="0" rtlCol="0" anchor="t"/>
          <a:lstStyle/>
          <a:p>
            <a:pPr marL="0" indent="0" algn="ctr">
              <a:lnSpc>
                <a:spcPts val="2900"/>
              </a:lnSpc>
              <a:buNone/>
            </a:pPr>
            <a:r>
              <a:rPr lang="en-US" sz="2900" b="1" dirty="0">
                <a:solidFill>
                  <a:srgbClr val="272525"/>
                </a:solidFill>
                <a:latin typeface="Inter Bold" pitchFamily="34" charset="0"/>
                <a:ea typeface="Inter Bold" pitchFamily="34" charset="-122"/>
                <a:cs typeface="Inter Bold" pitchFamily="34" charset="-120"/>
              </a:rPr>
              <a:t>97.5%</a:t>
            </a:r>
            <a:endParaRPr lang="en-US" sz="2900" dirty="0"/>
          </a:p>
        </p:txBody>
      </p:sp>
      <p:pic>
        <p:nvPicPr>
          <p:cNvPr id="29" name="Image 0" descr="preencoded.png"/>
          <p:cNvPicPr>
            <a:picLocks noChangeAspect="1"/>
          </p:cNvPicPr>
          <p:nvPr/>
        </p:nvPicPr>
        <p:blipFill>
          <a:blip r:embed="rId3"/>
          <a:stretch>
            <a:fillRect/>
          </a:stretch>
        </p:blipFill>
        <p:spPr>
          <a:xfrm>
            <a:off x="2239447" y="3904417"/>
            <a:ext cx="2232779" cy="2232779"/>
          </a:xfrm>
          <a:prstGeom prst="rect">
            <a:avLst/>
          </a:prstGeom>
        </p:spPr>
      </p:pic>
      <p:sp>
        <p:nvSpPr>
          <p:cNvPr id="30" name="Text 27"/>
          <p:cNvSpPr/>
          <p:nvPr/>
        </p:nvSpPr>
        <p:spPr>
          <a:xfrm>
            <a:off x="2425541" y="6285905"/>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272525"/>
                </a:solidFill>
                <a:latin typeface="Inter Bold" pitchFamily="34" charset="0"/>
                <a:ea typeface="Inter Bold" pitchFamily="34" charset="-122"/>
                <a:cs typeface="Inter Bold" pitchFamily="34" charset="-120"/>
              </a:rPr>
              <a:t>Tumor Detection</a:t>
            </a:r>
            <a:endParaRPr lang="en-US" sz="1450" dirty="0"/>
          </a:p>
        </p:txBody>
      </p:sp>
      <p:sp>
        <p:nvSpPr>
          <p:cNvPr id="31" name="Text 28"/>
          <p:cNvSpPr/>
          <p:nvPr/>
        </p:nvSpPr>
        <p:spPr>
          <a:xfrm>
            <a:off x="1446014" y="6585347"/>
            <a:ext cx="3819644" cy="208359"/>
          </a:xfrm>
          <a:prstGeom prst="rect">
            <a:avLst/>
          </a:prstGeom>
          <a:noFill/>
          <a:ln/>
        </p:spPr>
        <p:txBody>
          <a:bodyPr wrap="none" lIns="0" tIns="0" rIns="0" bIns="0" rtlCol="0" anchor="t"/>
          <a:lstStyle/>
          <a:p>
            <a:pPr marL="0" indent="0" algn="ctr">
              <a:lnSpc>
                <a:spcPts val="1600"/>
              </a:lnSpc>
              <a:buNone/>
            </a:pPr>
            <a:r>
              <a:rPr lang="en-US" sz="1150" dirty="0">
                <a:solidFill>
                  <a:srgbClr val="272525"/>
                </a:solidFill>
                <a:latin typeface="Inter" pitchFamily="34" charset="0"/>
                <a:ea typeface="Inter" pitchFamily="34" charset="-122"/>
                <a:cs typeface="Inter" pitchFamily="34" charset="-120"/>
              </a:rPr>
              <a:t>Brain tumor recall rate</a:t>
            </a:r>
            <a:endParaRPr lang="en-US" sz="1150" dirty="0"/>
          </a:p>
        </p:txBody>
      </p:sp>
      <p:sp>
        <p:nvSpPr>
          <p:cNvPr id="32" name="Text 29"/>
          <p:cNvSpPr/>
          <p:nvPr/>
        </p:nvSpPr>
        <p:spPr>
          <a:xfrm>
            <a:off x="6399490" y="4834652"/>
            <a:ext cx="1830824" cy="372070"/>
          </a:xfrm>
          <a:prstGeom prst="rect">
            <a:avLst/>
          </a:prstGeom>
          <a:noFill/>
          <a:ln/>
        </p:spPr>
        <p:txBody>
          <a:bodyPr wrap="none" lIns="0" tIns="0" rIns="0" bIns="0" rtlCol="0" anchor="t"/>
          <a:lstStyle/>
          <a:p>
            <a:pPr marL="0" indent="0" algn="ctr">
              <a:lnSpc>
                <a:spcPts val="2900"/>
              </a:lnSpc>
              <a:buNone/>
            </a:pPr>
            <a:r>
              <a:rPr lang="en-US" sz="2900" b="1" dirty="0">
                <a:solidFill>
                  <a:srgbClr val="272525"/>
                </a:solidFill>
                <a:latin typeface="Inter Bold" pitchFamily="34" charset="0"/>
                <a:ea typeface="Inter Bold" pitchFamily="34" charset="-122"/>
                <a:cs typeface="Inter Bold" pitchFamily="34" charset="-120"/>
              </a:rPr>
              <a:t>95.7%</a:t>
            </a:r>
            <a:endParaRPr lang="en-US" sz="2900" dirty="0"/>
          </a:p>
        </p:txBody>
      </p:sp>
      <p:pic>
        <p:nvPicPr>
          <p:cNvPr id="33" name="Image 1" descr="preencoded.png"/>
          <p:cNvPicPr>
            <a:picLocks noChangeAspect="1"/>
          </p:cNvPicPr>
          <p:nvPr/>
        </p:nvPicPr>
        <p:blipFill>
          <a:blip r:embed="rId4"/>
          <a:stretch>
            <a:fillRect/>
          </a:stretch>
        </p:blipFill>
        <p:spPr>
          <a:xfrm>
            <a:off x="6198632" y="3904417"/>
            <a:ext cx="2232779" cy="2232779"/>
          </a:xfrm>
          <a:prstGeom prst="rect">
            <a:avLst/>
          </a:prstGeom>
        </p:spPr>
      </p:pic>
      <p:sp>
        <p:nvSpPr>
          <p:cNvPr id="34" name="Text 30"/>
          <p:cNvSpPr/>
          <p:nvPr/>
        </p:nvSpPr>
        <p:spPr>
          <a:xfrm>
            <a:off x="6384727" y="6285905"/>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272525"/>
                </a:solidFill>
                <a:latin typeface="Inter Bold" pitchFamily="34" charset="0"/>
                <a:ea typeface="Inter Bold" pitchFamily="34" charset="-122"/>
                <a:cs typeface="Inter Bold" pitchFamily="34" charset="-120"/>
              </a:rPr>
              <a:t>Healthy Accuracy</a:t>
            </a:r>
            <a:endParaRPr lang="en-US" sz="1450" dirty="0"/>
          </a:p>
        </p:txBody>
      </p:sp>
      <p:sp>
        <p:nvSpPr>
          <p:cNvPr id="35" name="Text 31"/>
          <p:cNvSpPr/>
          <p:nvPr/>
        </p:nvSpPr>
        <p:spPr>
          <a:xfrm>
            <a:off x="5405199" y="6585347"/>
            <a:ext cx="3819763" cy="208359"/>
          </a:xfrm>
          <a:prstGeom prst="rect">
            <a:avLst/>
          </a:prstGeom>
          <a:noFill/>
          <a:ln/>
        </p:spPr>
        <p:txBody>
          <a:bodyPr wrap="none" lIns="0" tIns="0" rIns="0" bIns="0" rtlCol="0" anchor="t"/>
          <a:lstStyle/>
          <a:p>
            <a:pPr marL="0" indent="0" algn="ctr">
              <a:lnSpc>
                <a:spcPts val="1600"/>
              </a:lnSpc>
              <a:buNone/>
            </a:pPr>
            <a:r>
              <a:rPr lang="en-US" sz="1150" dirty="0">
                <a:solidFill>
                  <a:srgbClr val="272525"/>
                </a:solidFill>
                <a:latin typeface="Inter" pitchFamily="34" charset="0"/>
                <a:ea typeface="Inter" pitchFamily="34" charset="-122"/>
                <a:cs typeface="Inter" pitchFamily="34" charset="-120"/>
              </a:rPr>
              <a:t>Correct healthy classification</a:t>
            </a:r>
            <a:endParaRPr lang="en-US" sz="1150" dirty="0"/>
          </a:p>
        </p:txBody>
      </p:sp>
      <p:sp>
        <p:nvSpPr>
          <p:cNvPr id="36" name="Text 32"/>
          <p:cNvSpPr/>
          <p:nvPr/>
        </p:nvSpPr>
        <p:spPr>
          <a:xfrm>
            <a:off x="10358795" y="4834652"/>
            <a:ext cx="1830824" cy="372070"/>
          </a:xfrm>
          <a:prstGeom prst="rect">
            <a:avLst/>
          </a:prstGeom>
          <a:noFill/>
          <a:ln/>
        </p:spPr>
        <p:txBody>
          <a:bodyPr wrap="none" lIns="0" tIns="0" rIns="0" bIns="0" rtlCol="0" anchor="t"/>
          <a:lstStyle/>
          <a:p>
            <a:pPr marL="0" indent="0" algn="ctr">
              <a:lnSpc>
                <a:spcPts val="2900"/>
              </a:lnSpc>
              <a:buNone/>
            </a:pPr>
            <a:r>
              <a:rPr lang="en-US" sz="2900" b="1" dirty="0">
                <a:solidFill>
                  <a:srgbClr val="272525"/>
                </a:solidFill>
                <a:latin typeface="Inter Bold" pitchFamily="34" charset="0"/>
                <a:ea typeface="Inter Bold" pitchFamily="34" charset="-122"/>
                <a:cs typeface="Inter Bold" pitchFamily="34" charset="-120"/>
              </a:rPr>
              <a:t>96.8%</a:t>
            </a:r>
            <a:endParaRPr lang="en-US" sz="2900" dirty="0"/>
          </a:p>
        </p:txBody>
      </p:sp>
      <p:pic>
        <p:nvPicPr>
          <p:cNvPr id="37" name="Image 2" descr="preencoded.png"/>
          <p:cNvPicPr>
            <a:picLocks noChangeAspect="1"/>
          </p:cNvPicPr>
          <p:nvPr/>
        </p:nvPicPr>
        <p:blipFill>
          <a:blip r:embed="rId5"/>
          <a:stretch>
            <a:fillRect/>
          </a:stretch>
        </p:blipFill>
        <p:spPr>
          <a:xfrm>
            <a:off x="10157936" y="3904417"/>
            <a:ext cx="2232779" cy="2232779"/>
          </a:xfrm>
          <a:prstGeom prst="rect">
            <a:avLst/>
          </a:prstGeom>
        </p:spPr>
      </p:pic>
      <p:sp>
        <p:nvSpPr>
          <p:cNvPr id="38" name="Text 33"/>
          <p:cNvSpPr/>
          <p:nvPr/>
        </p:nvSpPr>
        <p:spPr>
          <a:xfrm>
            <a:off x="10344031" y="6285905"/>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272525"/>
                </a:solidFill>
                <a:latin typeface="Inter Bold" pitchFamily="34" charset="0"/>
                <a:ea typeface="Inter Bold" pitchFamily="34" charset="-122"/>
                <a:cs typeface="Inter Bold" pitchFamily="34" charset="-120"/>
              </a:rPr>
              <a:t>Overall Accuracy</a:t>
            </a:r>
            <a:endParaRPr lang="en-US" sz="1450" dirty="0"/>
          </a:p>
        </p:txBody>
      </p:sp>
      <p:sp>
        <p:nvSpPr>
          <p:cNvPr id="39" name="Text 34"/>
          <p:cNvSpPr/>
          <p:nvPr/>
        </p:nvSpPr>
        <p:spPr>
          <a:xfrm>
            <a:off x="9364504" y="6585347"/>
            <a:ext cx="3819763" cy="208359"/>
          </a:xfrm>
          <a:prstGeom prst="rect">
            <a:avLst/>
          </a:prstGeom>
          <a:noFill/>
          <a:ln/>
        </p:spPr>
        <p:txBody>
          <a:bodyPr wrap="none" lIns="0" tIns="0" rIns="0" bIns="0" rtlCol="0" anchor="t"/>
          <a:lstStyle/>
          <a:p>
            <a:pPr marL="0" indent="0" algn="ctr">
              <a:lnSpc>
                <a:spcPts val="1600"/>
              </a:lnSpc>
              <a:buNone/>
            </a:pPr>
            <a:r>
              <a:rPr lang="en-US" sz="1150" dirty="0">
                <a:solidFill>
                  <a:srgbClr val="272525"/>
                </a:solidFill>
                <a:latin typeface="Inter" pitchFamily="34" charset="0"/>
                <a:ea typeface="Inter" pitchFamily="34" charset="-122"/>
                <a:cs typeface="Inter" pitchFamily="34" charset="-120"/>
              </a:rPr>
              <a:t>Exceeds target by 1.8%</a:t>
            </a:r>
            <a:endParaRPr lang="en-US" sz="1150" dirty="0"/>
          </a:p>
        </p:txBody>
      </p:sp>
      <p:sp>
        <p:nvSpPr>
          <p:cNvPr id="40" name="Text 35"/>
          <p:cNvSpPr/>
          <p:nvPr/>
        </p:nvSpPr>
        <p:spPr>
          <a:xfrm>
            <a:off x="1446014" y="6919198"/>
            <a:ext cx="11738253" cy="416719"/>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The model demonstrates excellent discrimination capability with a ROC-AUC of 99.12%, indicating near-perfect ability to distinguish between tumor and healthy cases. The balanced precision and recall show minimal bias toward either class, which is critical for clinical applications.</a:t>
            </a:r>
            <a:endParaRPr lang="en-US" sz="1150" dirty="0"/>
          </a:p>
        </p:txBody>
      </p:sp>
      <p:sp>
        <p:nvSpPr>
          <p:cNvPr id="41" name="Rectangle 40"/>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pic>
        <p:nvPicPr>
          <p:cNvPr id="3" name="Picture 2"/>
          <p:cNvPicPr>
            <a:picLocks noChangeAspect="1"/>
          </p:cNvPicPr>
          <p:nvPr/>
        </p:nvPicPr>
        <p:blipFill>
          <a:blip r:embed="rId2"/>
          <a:stretch>
            <a:fillRect/>
          </a:stretch>
        </p:blipFill>
        <p:spPr>
          <a:xfrm>
            <a:off x="705745" y="480448"/>
            <a:ext cx="12896966" cy="3666469"/>
          </a:xfrm>
          <a:prstGeom prst="rect">
            <a:avLst/>
          </a:prstGeom>
        </p:spPr>
      </p:pic>
      <p:pic>
        <p:nvPicPr>
          <p:cNvPr id="4" name="Picture 3"/>
          <p:cNvPicPr>
            <a:picLocks noChangeAspect="1"/>
          </p:cNvPicPr>
          <p:nvPr/>
        </p:nvPicPr>
        <p:blipFill>
          <a:blip r:embed="rId3"/>
          <a:stretch>
            <a:fillRect/>
          </a:stretch>
        </p:blipFill>
        <p:spPr>
          <a:xfrm>
            <a:off x="705745" y="4828842"/>
            <a:ext cx="13570924" cy="2727069"/>
          </a:xfrm>
          <a:prstGeom prst="rect">
            <a:avLst/>
          </a:prstGeom>
        </p:spPr>
      </p:pic>
    </p:spTree>
    <p:extLst>
      <p:ext uri="{BB962C8B-B14F-4D97-AF65-F5344CB8AC3E}">
        <p14:creationId xmlns:p14="http://schemas.microsoft.com/office/powerpoint/2010/main" val="308852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07613" y="630912"/>
            <a:ext cx="9857303" cy="507802"/>
          </a:xfrm>
          <a:prstGeom prst="rect">
            <a:avLst/>
          </a:prstGeom>
          <a:noFill/>
          <a:ln/>
        </p:spPr>
        <p:txBody>
          <a:bodyPr wrap="none" lIns="0" tIns="0" rIns="0" bIns="0" rtlCol="0" anchor="t"/>
          <a:lstStyle/>
          <a:p>
            <a:pPr marL="0" indent="0" algn="l">
              <a:lnSpc>
                <a:spcPts val="3950"/>
              </a:lnSpc>
              <a:buNone/>
            </a:pPr>
            <a:r>
              <a:rPr lang="en-US" sz="3150" b="1" dirty="0">
                <a:solidFill>
                  <a:srgbClr val="000000"/>
                </a:solidFill>
                <a:latin typeface="Inter Bold" pitchFamily="34" charset="0"/>
                <a:ea typeface="Inter Bold" pitchFamily="34" charset="-122"/>
                <a:cs typeface="Inter Bold" pitchFamily="34" charset="-120"/>
              </a:rPr>
              <a:t>Method-1 vs Method-2: Performance Comparison</a:t>
            </a:r>
            <a:endParaRPr lang="en-US" sz="3150" dirty="0"/>
          </a:p>
        </p:txBody>
      </p:sp>
      <p:pic>
        <p:nvPicPr>
          <p:cNvPr id="3" name="Image 0" descr="preencoded.png"/>
          <p:cNvPicPr>
            <a:picLocks noChangeAspect="1"/>
          </p:cNvPicPr>
          <p:nvPr/>
        </p:nvPicPr>
        <p:blipFill>
          <a:blip r:embed="rId3"/>
          <a:stretch>
            <a:fillRect/>
          </a:stretch>
        </p:blipFill>
        <p:spPr>
          <a:xfrm>
            <a:off x="907613" y="1338263"/>
            <a:ext cx="812483" cy="975003"/>
          </a:xfrm>
          <a:prstGeom prst="rect">
            <a:avLst/>
          </a:prstGeom>
        </p:spPr>
      </p:pic>
      <p:sp>
        <p:nvSpPr>
          <p:cNvPr id="4" name="Text 1"/>
          <p:cNvSpPr/>
          <p:nvPr/>
        </p:nvSpPr>
        <p:spPr>
          <a:xfrm>
            <a:off x="1853089" y="1500664"/>
            <a:ext cx="2031325" cy="253841"/>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Accuracy</a:t>
            </a:r>
            <a:endParaRPr lang="en-US" sz="1550" dirty="0"/>
          </a:p>
        </p:txBody>
      </p:sp>
      <p:sp>
        <p:nvSpPr>
          <p:cNvPr id="5" name="Text 2"/>
          <p:cNvSpPr/>
          <p:nvPr/>
        </p:nvSpPr>
        <p:spPr>
          <a:xfrm>
            <a:off x="1853089" y="1834277"/>
            <a:ext cx="1186969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+3.25% (93.50% → 96.75%)</a:t>
            </a:r>
            <a:endParaRPr lang="en-US" sz="1250" dirty="0"/>
          </a:p>
        </p:txBody>
      </p:sp>
      <p:pic>
        <p:nvPicPr>
          <p:cNvPr id="6" name="Image 1" descr="preencoded.png"/>
          <p:cNvPicPr>
            <a:picLocks noChangeAspect="1"/>
          </p:cNvPicPr>
          <p:nvPr/>
        </p:nvPicPr>
        <p:blipFill>
          <a:blip r:embed="rId4"/>
          <a:stretch>
            <a:fillRect/>
          </a:stretch>
        </p:blipFill>
        <p:spPr>
          <a:xfrm>
            <a:off x="907613" y="2313265"/>
            <a:ext cx="812483" cy="975003"/>
          </a:xfrm>
          <a:prstGeom prst="rect">
            <a:avLst/>
          </a:prstGeom>
        </p:spPr>
      </p:pic>
      <p:sp>
        <p:nvSpPr>
          <p:cNvPr id="7" name="Text 3"/>
          <p:cNvSpPr/>
          <p:nvPr/>
        </p:nvSpPr>
        <p:spPr>
          <a:xfrm>
            <a:off x="1853089" y="2475667"/>
            <a:ext cx="2031325" cy="253841"/>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Precision</a:t>
            </a:r>
            <a:endParaRPr lang="en-US" sz="1550" dirty="0"/>
          </a:p>
        </p:txBody>
      </p:sp>
      <p:sp>
        <p:nvSpPr>
          <p:cNvPr id="8" name="Text 4"/>
          <p:cNvSpPr/>
          <p:nvPr/>
        </p:nvSpPr>
        <p:spPr>
          <a:xfrm>
            <a:off x="1853089" y="2809280"/>
            <a:ext cx="1186969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+3.30% (93.12% → 96.42%)</a:t>
            </a:r>
            <a:endParaRPr lang="en-US" sz="1250" dirty="0"/>
          </a:p>
        </p:txBody>
      </p:sp>
      <p:pic>
        <p:nvPicPr>
          <p:cNvPr id="9" name="Image 2" descr="preencoded.png"/>
          <p:cNvPicPr>
            <a:picLocks noChangeAspect="1"/>
          </p:cNvPicPr>
          <p:nvPr/>
        </p:nvPicPr>
        <p:blipFill>
          <a:blip r:embed="rId5"/>
          <a:stretch>
            <a:fillRect/>
          </a:stretch>
        </p:blipFill>
        <p:spPr>
          <a:xfrm>
            <a:off x="907613" y="3288268"/>
            <a:ext cx="812483" cy="975003"/>
          </a:xfrm>
          <a:prstGeom prst="rect">
            <a:avLst/>
          </a:prstGeom>
        </p:spPr>
      </p:pic>
      <p:sp>
        <p:nvSpPr>
          <p:cNvPr id="10" name="Text 5"/>
          <p:cNvSpPr/>
          <p:nvPr/>
        </p:nvSpPr>
        <p:spPr>
          <a:xfrm>
            <a:off x="1853089" y="3450669"/>
            <a:ext cx="2031325" cy="253841"/>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Recall</a:t>
            </a:r>
            <a:endParaRPr lang="en-US" sz="1550" dirty="0"/>
          </a:p>
        </p:txBody>
      </p:sp>
      <p:sp>
        <p:nvSpPr>
          <p:cNvPr id="11" name="Text 6"/>
          <p:cNvSpPr/>
          <p:nvPr/>
        </p:nvSpPr>
        <p:spPr>
          <a:xfrm>
            <a:off x="1853089" y="3784283"/>
            <a:ext cx="1186969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+3.34% (93.19% → 96.53%)</a:t>
            </a:r>
            <a:endParaRPr lang="en-US" sz="1250" dirty="0"/>
          </a:p>
        </p:txBody>
      </p:sp>
      <p:pic>
        <p:nvPicPr>
          <p:cNvPr id="12" name="Image 3" descr="preencoded.png"/>
          <p:cNvPicPr>
            <a:picLocks noChangeAspect="1"/>
          </p:cNvPicPr>
          <p:nvPr/>
        </p:nvPicPr>
        <p:blipFill>
          <a:blip r:embed="rId6"/>
          <a:stretch>
            <a:fillRect/>
          </a:stretch>
        </p:blipFill>
        <p:spPr>
          <a:xfrm>
            <a:off x="907613" y="4263271"/>
            <a:ext cx="812483" cy="975003"/>
          </a:xfrm>
          <a:prstGeom prst="rect">
            <a:avLst/>
          </a:prstGeom>
        </p:spPr>
      </p:pic>
      <p:sp>
        <p:nvSpPr>
          <p:cNvPr id="13" name="Text 7"/>
          <p:cNvSpPr/>
          <p:nvPr/>
        </p:nvSpPr>
        <p:spPr>
          <a:xfrm>
            <a:off x="1853089" y="4425672"/>
            <a:ext cx="2031325" cy="253841"/>
          </a:xfrm>
          <a:prstGeom prst="rect">
            <a:avLst/>
          </a:prstGeom>
          <a:noFill/>
          <a:ln/>
        </p:spPr>
        <p:txBody>
          <a:bodyPr wrap="none" lIns="0" tIns="0" rIns="0" bIns="0" rtlCol="0" anchor="t"/>
          <a:lstStyle/>
          <a:p>
            <a:pPr marL="0" indent="0" algn="l">
              <a:lnSpc>
                <a:spcPts val="1950"/>
              </a:lnSpc>
              <a:buNone/>
            </a:pPr>
            <a:r>
              <a:rPr lang="en-US" sz="1550" b="1" dirty="0">
                <a:solidFill>
                  <a:srgbClr val="272525"/>
                </a:solidFill>
                <a:latin typeface="Inter Bold" pitchFamily="34" charset="0"/>
                <a:ea typeface="Inter Bold" pitchFamily="34" charset="-122"/>
                <a:cs typeface="Inter Bold" pitchFamily="34" charset="-120"/>
              </a:rPr>
              <a:t>F1-Score</a:t>
            </a:r>
            <a:endParaRPr lang="en-US" sz="1550" dirty="0"/>
          </a:p>
        </p:txBody>
      </p:sp>
      <p:sp>
        <p:nvSpPr>
          <p:cNvPr id="14" name="Text 8"/>
          <p:cNvSpPr/>
          <p:nvPr/>
        </p:nvSpPr>
        <p:spPr>
          <a:xfrm>
            <a:off x="1853089" y="4759285"/>
            <a:ext cx="1186969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+3.32% (93.15% → 96.47%)</a:t>
            </a:r>
            <a:endParaRPr lang="en-US" sz="1250" dirty="0"/>
          </a:p>
        </p:txBody>
      </p:sp>
      <p:sp>
        <p:nvSpPr>
          <p:cNvPr id="15" name="Text 9"/>
          <p:cNvSpPr/>
          <p:nvPr/>
        </p:nvSpPr>
        <p:spPr>
          <a:xfrm>
            <a:off x="907613" y="5520928"/>
            <a:ext cx="2515314" cy="253841"/>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False Negative Reduction</a:t>
            </a:r>
            <a:endParaRPr lang="en-US" sz="1550" dirty="0"/>
          </a:p>
        </p:txBody>
      </p:sp>
      <p:sp>
        <p:nvSpPr>
          <p:cNvPr id="16" name="Text 10"/>
          <p:cNvSpPr/>
          <p:nvPr/>
        </p:nvSpPr>
        <p:spPr>
          <a:xfrm>
            <a:off x="907613" y="5907762"/>
            <a:ext cx="620934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Method-1: 15 false negatives</a:t>
            </a:r>
            <a:endParaRPr lang="en-US" sz="1250" dirty="0"/>
          </a:p>
        </p:txBody>
      </p:sp>
      <p:sp>
        <p:nvSpPr>
          <p:cNvPr id="17" name="Text 11"/>
          <p:cNvSpPr/>
          <p:nvPr/>
        </p:nvSpPr>
        <p:spPr>
          <a:xfrm>
            <a:off x="907613" y="6263878"/>
            <a:ext cx="620934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Method-2: 8 false negatives</a:t>
            </a:r>
            <a:endParaRPr lang="en-US" sz="1250" dirty="0"/>
          </a:p>
        </p:txBody>
      </p:sp>
      <p:sp>
        <p:nvSpPr>
          <p:cNvPr id="18" name="Text 12"/>
          <p:cNvSpPr/>
          <p:nvPr/>
        </p:nvSpPr>
        <p:spPr>
          <a:xfrm>
            <a:off x="907613" y="6619994"/>
            <a:ext cx="6209348" cy="236458"/>
          </a:xfrm>
          <a:prstGeom prst="rect">
            <a:avLst/>
          </a:prstGeom>
          <a:noFill/>
          <a:ln/>
        </p:spPr>
        <p:txBody>
          <a:bodyPr wrap="none" lIns="0" tIns="0" rIns="0" bIns="0" rtlCol="0" anchor="t"/>
          <a:lstStyle/>
          <a:p>
            <a:pPr marL="0" indent="0" algn="l">
              <a:lnSpc>
                <a:spcPts val="1850"/>
              </a:lnSpc>
              <a:buNone/>
            </a:pPr>
            <a:r>
              <a:rPr lang="en-US" sz="1250" b="1" dirty="0">
                <a:solidFill>
                  <a:srgbClr val="F20374"/>
                </a:solidFill>
                <a:latin typeface="Inter" pitchFamily="34" charset="0"/>
                <a:ea typeface="Inter" pitchFamily="34" charset="-122"/>
                <a:cs typeface="Inter" pitchFamily="34" charset="-120"/>
              </a:rPr>
              <a:t>-47% reduction</a:t>
            </a:r>
            <a:endParaRPr lang="en-US" sz="1250" dirty="0"/>
          </a:p>
        </p:txBody>
      </p:sp>
      <p:sp>
        <p:nvSpPr>
          <p:cNvPr id="19" name="Text 13"/>
          <p:cNvSpPr/>
          <p:nvPr/>
        </p:nvSpPr>
        <p:spPr>
          <a:xfrm>
            <a:off x="7521059" y="5520928"/>
            <a:ext cx="2416612" cy="253841"/>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False Positive Reduction</a:t>
            </a:r>
            <a:endParaRPr lang="en-US" sz="1550" dirty="0"/>
          </a:p>
        </p:txBody>
      </p:sp>
      <p:sp>
        <p:nvSpPr>
          <p:cNvPr id="20" name="Text 14"/>
          <p:cNvSpPr/>
          <p:nvPr/>
        </p:nvSpPr>
        <p:spPr>
          <a:xfrm>
            <a:off x="7521059" y="5907762"/>
            <a:ext cx="620934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Method-1: 28 false positives</a:t>
            </a:r>
            <a:endParaRPr lang="en-US" sz="1250" dirty="0"/>
          </a:p>
        </p:txBody>
      </p:sp>
      <p:sp>
        <p:nvSpPr>
          <p:cNvPr id="21" name="Text 15"/>
          <p:cNvSpPr/>
          <p:nvPr/>
        </p:nvSpPr>
        <p:spPr>
          <a:xfrm>
            <a:off x="7521059" y="6263878"/>
            <a:ext cx="6209348" cy="236458"/>
          </a:xfrm>
          <a:prstGeom prst="rect">
            <a:avLst/>
          </a:prstGeom>
          <a:noFill/>
          <a:ln/>
        </p:spPr>
        <p:txBody>
          <a:bodyPr wrap="non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Method-2: 14 false positives</a:t>
            </a:r>
            <a:endParaRPr lang="en-US" sz="1250" dirty="0"/>
          </a:p>
        </p:txBody>
      </p:sp>
      <p:sp>
        <p:nvSpPr>
          <p:cNvPr id="22" name="Text 16"/>
          <p:cNvSpPr/>
          <p:nvPr/>
        </p:nvSpPr>
        <p:spPr>
          <a:xfrm>
            <a:off x="7521059" y="6619994"/>
            <a:ext cx="6209348" cy="236458"/>
          </a:xfrm>
          <a:prstGeom prst="rect">
            <a:avLst/>
          </a:prstGeom>
          <a:noFill/>
          <a:ln/>
        </p:spPr>
        <p:txBody>
          <a:bodyPr wrap="none" lIns="0" tIns="0" rIns="0" bIns="0" rtlCol="0" anchor="t"/>
          <a:lstStyle/>
          <a:p>
            <a:pPr marL="0" indent="0" algn="l">
              <a:lnSpc>
                <a:spcPts val="1850"/>
              </a:lnSpc>
              <a:buNone/>
            </a:pPr>
            <a:r>
              <a:rPr lang="en-US" sz="1250" b="1" dirty="0">
                <a:solidFill>
                  <a:srgbClr val="F20374"/>
                </a:solidFill>
                <a:latin typeface="Inter" pitchFamily="34" charset="0"/>
                <a:ea typeface="Inter" pitchFamily="34" charset="-122"/>
                <a:cs typeface="Inter" pitchFamily="34" charset="-120"/>
              </a:rPr>
              <a:t>-50% reduction</a:t>
            </a:r>
            <a:endParaRPr lang="en-US" sz="1250" dirty="0"/>
          </a:p>
        </p:txBody>
      </p:sp>
      <p:sp>
        <p:nvSpPr>
          <p:cNvPr id="23" name="Text 17"/>
          <p:cNvSpPr/>
          <p:nvPr/>
        </p:nvSpPr>
        <p:spPr>
          <a:xfrm>
            <a:off x="907613" y="7125772"/>
            <a:ext cx="12815173" cy="472916"/>
          </a:xfrm>
          <a:prstGeom prst="rect">
            <a:avLst/>
          </a:prstGeom>
          <a:noFill/>
          <a:ln/>
        </p:spPr>
        <p:txBody>
          <a:bodyPr wrap="square" lIns="0" tIns="0" rIns="0" bIns="0" rtlCol="0" anchor="t"/>
          <a:lstStyle/>
          <a:p>
            <a:pPr marL="0" indent="0" algn="l">
              <a:lnSpc>
                <a:spcPts val="1850"/>
              </a:lnSpc>
              <a:buNone/>
            </a:pPr>
            <a:r>
              <a:rPr lang="en-US" sz="1250" dirty="0">
                <a:solidFill>
                  <a:srgbClr val="272525"/>
                </a:solidFill>
                <a:latin typeface="Inter" pitchFamily="34" charset="0"/>
                <a:ea typeface="Inter" pitchFamily="34" charset="-122"/>
                <a:cs typeface="Inter" pitchFamily="34" charset="-120"/>
              </a:rPr>
              <a:t>All improvements are statistically significant with p &lt; 0.01. The error reduction of approximately 50% represents a substantial clinical impact, particularly the reduction in false negatives which are critical in tumor detection scenarios.</a:t>
            </a:r>
            <a:endParaRPr lang="en-US" sz="1250" dirty="0"/>
          </a:p>
        </p:txBody>
      </p:sp>
      <p:sp>
        <p:nvSpPr>
          <p:cNvPr id="24" name="Rectangle 23"/>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9485"/>
            <a:ext cx="7165896" cy="650929"/>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Key Architectural Innovations</a:t>
            </a:r>
            <a:endParaRPr lang="en-US" sz="3900" dirty="0"/>
          </a:p>
        </p:txBody>
      </p:sp>
      <p:sp>
        <p:nvSpPr>
          <p:cNvPr id="3" name="Text 1"/>
          <p:cNvSpPr/>
          <p:nvPr/>
        </p:nvSpPr>
        <p:spPr>
          <a:xfrm>
            <a:off x="793790" y="790415"/>
            <a:ext cx="13042821" cy="110037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These architectural improvements work synergistically to produce a more robust, accurate, and clinically reliable model. The combination of deeper networks, better regularization, and optimized training protocols enables the model to learn more discriminative features while maintaining excellent generalization to unseen data.</a:t>
            </a:r>
            <a:endParaRPr lang="en-US" sz="1550" dirty="0"/>
          </a:p>
        </p:txBody>
      </p:sp>
      <p:sp>
        <p:nvSpPr>
          <p:cNvPr id="4" name="Rectangle 3"/>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pic>
        <p:nvPicPr>
          <p:cNvPr id="5" name="Picture 4"/>
          <p:cNvPicPr>
            <a:picLocks noChangeAspect="1"/>
          </p:cNvPicPr>
          <p:nvPr/>
        </p:nvPicPr>
        <p:blipFill>
          <a:blip r:embed="rId3"/>
          <a:stretch>
            <a:fillRect/>
          </a:stretch>
        </p:blipFill>
        <p:spPr>
          <a:xfrm>
            <a:off x="1592502" y="2327352"/>
            <a:ext cx="11503987" cy="50111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92467"/>
            <a:ext cx="814851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Clinical Impact and Error Analysis</a:t>
            </a:r>
            <a:endParaRPr lang="en-US" sz="3900" dirty="0"/>
          </a:p>
        </p:txBody>
      </p:sp>
      <p:sp>
        <p:nvSpPr>
          <p:cNvPr id="3" name="Text 1"/>
          <p:cNvSpPr/>
          <p:nvPr/>
        </p:nvSpPr>
        <p:spPr>
          <a:xfrm>
            <a:off x="793790" y="180855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Strengths</a:t>
            </a:r>
            <a:endParaRPr lang="en-US" sz="2300" dirty="0"/>
          </a:p>
        </p:txBody>
      </p:sp>
      <p:sp>
        <p:nvSpPr>
          <p:cNvPr id="4" name="Text 2"/>
          <p:cNvSpPr/>
          <p:nvPr/>
        </p:nvSpPr>
        <p:spPr>
          <a:xfrm>
            <a:off x="793790" y="2378988"/>
            <a:ext cx="6279356" cy="1865352"/>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F20374"/>
                </a:solidFill>
                <a:latin typeface="Inter" pitchFamily="34" charset="0"/>
                <a:ea typeface="Inter" pitchFamily="34" charset="-122"/>
                <a:cs typeface="Inter" pitchFamily="34" charset="-120"/>
              </a:rPr>
              <a:t>97.5% tumor detection</a:t>
            </a:r>
            <a:r>
              <a:rPr lang="en-US" sz="1550" dirty="0">
                <a:solidFill>
                  <a:srgbClr val="272525"/>
                </a:solidFill>
                <a:latin typeface="Inter" pitchFamily="34" charset="0"/>
                <a:ea typeface="Inter" pitchFamily="34" charset="-122"/>
                <a:cs typeface="Inter" pitchFamily="34" charset="-120"/>
              </a:rPr>
              <a:t> (only 8 missed)</a:t>
            </a:r>
            <a:endParaRPr lang="en-US" sz="1550" dirty="0"/>
          </a:p>
          <a:p>
            <a:pPr marL="342900" indent="-342900" algn="l">
              <a:lnSpc>
                <a:spcPts val="2500"/>
              </a:lnSpc>
              <a:buSzPct val="100000"/>
              <a:buChar char="•"/>
            </a:pPr>
            <a:r>
              <a:rPr lang="en-US" sz="1550" b="1" dirty="0">
                <a:solidFill>
                  <a:srgbClr val="F20374"/>
                </a:solidFill>
                <a:latin typeface="Inter" pitchFamily="34" charset="0"/>
                <a:ea typeface="Inter" pitchFamily="34" charset="-122"/>
                <a:cs typeface="Inter" pitchFamily="34" charset="-120"/>
              </a:rPr>
              <a:t>50% reduction in false negatives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Excellent generalization across diverse cases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Fast inference time (&lt;50ms per image)</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Balanced precision/recall trade-off</a:t>
            </a:r>
            <a:endParaRPr lang="en-US" sz="1550" dirty="0"/>
          </a:p>
        </p:txBody>
      </p:sp>
      <p:sp>
        <p:nvSpPr>
          <p:cNvPr id="5" name="Text 3"/>
          <p:cNvSpPr/>
          <p:nvPr/>
        </p:nvSpPr>
        <p:spPr>
          <a:xfrm>
            <a:off x="7564874" y="180855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Clinical Impact</a:t>
            </a:r>
            <a:endParaRPr lang="en-US" sz="2300" dirty="0"/>
          </a:p>
        </p:txBody>
      </p:sp>
      <p:sp>
        <p:nvSpPr>
          <p:cNvPr id="6" name="Text 4"/>
          <p:cNvSpPr/>
          <p:nvPr/>
        </p:nvSpPr>
        <p:spPr>
          <a:xfrm>
            <a:off x="7564874" y="2378988"/>
            <a:ext cx="6279356" cy="1865352"/>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Suitable for screening applications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Minimal false negatives (critical)</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Acceptable false positive rate</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Ready for real-world testing</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Potential for integration into clinical workflows</a:t>
            </a:r>
            <a:endParaRPr lang="en-US" sz="1550" dirty="0"/>
          </a:p>
        </p:txBody>
      </p:sp>
      <p:sp>
        <p:nvSpPr>
          <p:cNvPr id="7" name="Shape 5"/>
          <p:cNvSpPr/>
          <p:nvPr/>
        </p:nvSpPr>
        <p:spPr>
          <a:xfrm>
            <a:off x="793790" y="4536996"/>
            <a:ext cx="6422231" cy="1824276"/>
          </a:xfrm>
          <a:prstGeom prst="roundRect">
            <a:avLst>
              <a:gd name="adj" fmla="val 6015"/>
            </a:avLst>
          </a:prstGeom>
          <a:solidFill>
            <a:srgbClr val="FFFFFF"/>
          </a:solidFill>
          <a:ln w="22860">
            <a:solidFill>
              <a:srgbClr val="C0C1D7"/>
            </a:solidFill>
            <a:prstDash val="solid"/>
          </a:ln>
        </p:spPr>
      </p:sp>
      <p:sp>
        <p:nvSpPr>
          <p:cNvPr id="8" name="Shape 6"/>
          <p:cNvSpPr/>
          <p:nvPr/>
        </p:nvSpPr>
        <p:spPr>
          <a:xfrm>
            <a:off x="770930" y="4536996"/>
            <a:ext cx="91440" cy="1824276"/>
          </a:xfrm>
          <a:prstGeom prst="roundRect">
            <a:avLst>
              <a:gd name="adj" fmla="val 91163"/>
            </a:avLst>
          </a:prstGeom>
          <a:solidFill>
            <a:srgbClr val="4950BC"/>
          </a:solidFill>
          <a:ln/>
        </p:spPr>
      </p:sp>
      <p:sp>
        <p:nvSpPr>
          <p:cNvPr id="9" name="Text 7"/>
          <p:cNvSpPr/>
          <p:nvPr/>
        </p:nvSpPr>
        <p:spPr>
          <a:xfrm>
            <a:off x="1083588" y="4758214"/>
            <a:ext cx="3331607"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False Negative Cases (n=8)</a:t>
            </a:r>
            <a:endParaRPr lang="en-US" sz="1950" dirty="0"/>
          </a:p>
        </p:txBody>
      </p:sp>
      <p:sp>
        <p:nvSpPr>
          <p:cNvPr id="10" name="Text 8"/>
          <p:cNvSpPr/>
          <p:nvPr/>
        </p:nvSpPr>
        <p:spPr>
          <a:xfrm>
            <a:off x="1083588" y="5187434"/>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Small, low-contrast tumors in challenging anatomical locations. Mostly borderline cases where radiologists would also disagree</a:t>
            </a:r>
            <a:endParaRPr lang="en-US" sz="1550" dirty="0"/>
          </a:p>
        </p:txBody>
      </p:sp>
      <p:sp>
        <p:nvSpPr>
          <p:cNvPr id="11" name="Shape 9"/>
          <p:cNvSpPr/>
          <p:nvPr/>
        </p:nvSpPr>
        <p:spPr>
          <a:xfrm>
            <a:off x="7414379" y="4536996"/>
            <a:ext cx="6422231" cy="1824276"/>
          </a:xfrm>
          <a:prstGeom prst="roundRect">
            <a:avLst>
              <a:gd name="adj" fmla="val 6015"/>
            </a:avLst>
          </a:prstGeom>
          <a:solidFill>
            <a:srgbClr val="FFFFFF"/>
          </a:solidFill>
          <a:ln w="22860">
            <a:solidFill>
              <a:srgbClr val="C0C1D7"/>
            </a:solidFill>
            <a:prstDash val="solid"/>
          </a:ln>
        </p:spPr>
      </p:sp>
      <p:sp>
        <p:nvSpPr>
          <p:cNvPr id="12" name="Shape 10"/>
          <p:cNvSpPr/>
          <p:nvPr/>
        </p:nvSpPr>
        <p:spPr>
          <a:xfrm>
            <a:off x="7391519" y="4536996"/>
            <a:ext cx="91440" cy="1824276"/>
          </a:xfrm>
          <a:prstGeom prst="roundRect">
            <a:avLst>
              <a:gd name="adj" fmla="val 91163"/>
            </a:avLst>
          </a:prstGeom>
          <a:solidFill>
            <a:srgbClr val="4950BC"/>
          </a:solidFill>
          <a:ln/>
        </p:spPr>
      </p:sp>
      <p:sp>
        <p:nvSpPr>
          <p:cNvPr id="13" name="Text 11"/>
          <p:cNvSpPr/>
          <p:nvPr/>
        </p:nvSpPr>
        <p:spPr>
          <a:xfrm>
            <a:off x="7704177" y="4758214"/>
            <a:ext cx="332422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False Positive Cases (n=14)</a:t>
            </a:r>
            <a:endParaRPr lang="en-US" sz="1950" dirty="0"/>
          </a:p>
        </p:txBody>
      </p:sp>
      <p:sp>
        <p:nvSpPr>
          <p:cNvPr id="14" name="Text 12"/>
          <p:cNvSpPr/>
          <p:nvPr/>
        </p:nvSpPr>
        <p:spPr>
          <a:xfrm>
            <a:off x="7704177" y="5187434"/>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Benign anomalies, imaging artifacts, and normal anatomical variations misclassified as tumors</a:t>
            </a:r>
            <a:endParaRPr lang="en-US" sz="1550" dirty="0"/>
          </a:p>
        </p:txBody>
      </p:sp>
      <p:sp>
        <p:nvSpPr>
          <p:cNvPr id="15" name="Text 13"/>
          <p:cNvSpPr/>
          <p:nvPr/>
        </p:nvSpPr>
        <p:spPr>
          <a:xfrm>
            <a:off x="793790" y="6584513"/>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model demonstrates strong clinical readiness with excellent sensitivity (97.5% tumor detection) and specificity (95.7% healthy classification). The false negative rate of only 2.5% is particularly important in clinical practice, as missing tumors can have serious consequences.</a:t>
            </a:r>
            <a:endParaRPr lang="en-US" sz="1550" dirty="0"/>
          </a:p>
        </p:txBody>
      </p:sp>
      <p:sp>
        <p:nvSpPr>
          <p:cNvPr id="16" name="Rectangle 15"/>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397198"/>
            <a:ext cx="7877413"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Deliverables and Documentation</a:t>
            </a:r>
            <a:endParaRPr lang="en-US" sz="3900" dirty="0"/>
          </a:p>
        </p:txBody>
      </p:sp>
      <p:sp>
        <p:nvSpPr>
          <p:cNvPr id="3" name="Shape 1"/>
          <p:cNvSpPr/>
          <p:nvPr/>
        </p:nvSpPr>
        <p:spPr>
          <a:xfrm>
            <a:off x="793790" y="2314932"/>
            <a:ext cx="4215289" cy="3341608"/>
          </a:xfrm>
          <a:prstGeom prst="roundRect">
            <a:avLst>
              <a:gd name="adj" fmla="val 2495"/>
            </a:avLst>
          </a:prstGeom>
          <a:solidFill>
            <a:srgbClr val="DADBF1"/>
          </a:solidFill>
          <a:ln w="7620">
            <a:solidFill>
              <a:srgbClr val="C0C1D7"/>
            </a:solidFill>
            <a:prstDash val="solid"/>
          </a:ln>
        </p:spPr>
      </p:sp>
      <p:sp>
        <p:nvSpPr>
          <p:cNvPr id="4" name="Text 2"/>
          <p:cNvSpPr/>
          <p:nvPr/>
        </p:nvSpPr>
        <p:spPr>
          <a:xfrm>
            <a:off x="999768" y="252091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Code Deliverables</a:t>
            </a:r>
            <a:endParaRPr lang="en-US" sz="1950" dirty="0"/>
          </a:p>
        </p:txBody>
      </p:sp>
      <p:sp>
        <p:nvSpPr>
          <p:cNvPr id="5" name="Text 3"/>
          <p:cNvSpPr/>
          <p:nvPr/>
        </p:nvSpPr>
        <p:spPr>
          <a:xfrm>
            <a:off x="999768" y="2950131"/>
            <a:ext cx="3803333" cy="2500432"/>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Advanced CNN-LSTM model implementation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Training pipeline with all optimizations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Evaluation framework</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Visualization utilities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Inference script</a:t>
            </a:r>
            <a:endParaRPr lang="en-US" sz="1550" dirty="0"/>
          </a:p>
        </p:txBody>
      </p:sp>
      <p:sp>
        <p:nvSpPr>
          <p:cNvPr id="6" name="Shape 4"/>
          <p:cNvSpPr/>
          <p:nvPr/>
        </p:nvSpPr>
        <p:spPr>
          <a:xfrm>
            <a:off x="5207437" y="2314932"/>
            <a:ext cx="4215408" cy="3341608"/>
          </a:xfrm>
          <a:prstGeom prst="roundRect">
            <a:avLst>
              <a:gd name="adj" fmla="val 2495"/>
            </a:avLst>
          </a:prstGeom>
          <a:solidFill>
            <a:srgbClr val="DADBF1"/>
          </a:solidFill>
          <a:ln w="7620">
            <a:solidFill>
              <a:srgbClr val="C0C1D7"/>
            </a:solidFill>
            <a:prstDash val="solid"/>
          </a:ln>
        </p:spPr>
      </p:sp>
      <p:sp>
        <p:nvSpPr>
          <p:cNvPr id="7" name="Text 5"/>
          <p:cNvSpPr/>
          <p:nvPr/>
        </p:nvSpPr>
        <p:spPr>
          <a:xfrm>
            <a:off x="5413415" y="252091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Documentation</a:t>
            </a:r>
            <a:endParaRPr lang="en-US" sz="1950" dirty="0"/>
          </a:p>
        </p:txBody>
      </p:sp>
      <p:sp>
        <p:nvSpPr>
          <p:cNvPr id="8" name="Text 6"/>
          <p:cNvSpPr/>
          <p:nvPr/>
        </p:nvSpPr>
        <p:spPr>
          <a:xfrm>
            <a:off x="5413415" y="2950131"/>
            <a:ext cx="3803452" cy="2252305"/>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Detailed architecture description</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Training methodology</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Complete results analysis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Comparison with Method-1</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Error analysis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Professional visualizations</a:t>
            </a:r>
            <a:endParaRPr lang="en-US" sz="1550" dirty="0"/>
          </a:p>
        </p:txBody>
      </p:sp>
      <p:sp>
        <p:nvSpPr>
          <p:cNvPr id="9" name="Shape 7"/>
          <p:cNvSpPr/>
          <p:nvPr/>
        </p:nvSpPr>
        <p:spPr>
          <a:xfrm>
            <a:off x="9621203" y="2314932"/>
            <a:ext cx="4215289" cy="3341608"/>
          </a:xfrm>
          <a:prstGeom prst="roundRect">
            <a:avLst>
              <a:gd name="adj" fmla="val 2495"/>
            </a:avLst>
          </a:prstGeom>
          <a:solidFill>
            <a:srgbClr val="DADBF1"/>
          </a:solidFill>
          <a:ln w="7620">
            <a:solidFill>
              <a:srgbClr val="C0C1D7"/>
            </a:solidFill>
            <a:prstDash val="solid"/>
          </a:ln>
        </p:spPr>
      </p:sp>
      <p:sp>
        <p:nvSpPr>
          <p:cNvPr id="10" name="Text 8"/>
          <p:cNvSpPr/>
          <p:nvPr/>
        </p:nvSpPr>
        <p:spPr>
          <a:xfrm>
            <a:off x="9827181" y="252091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Model Files</a:t>
            </a:r>
            <a:endParaRPr lang="en-US" sz="1950" dirty="0"/>
          </a:p>
        </p:txBody>
      </p:sp>
      <p:sp>
        <p:nvSpPr>
          <p:cNvPr id="11" name="Text 9"/>
          <p:cNvSpPr/>
          <p:nvPr/>
        </p:nvSpPr>
        <p:spPr>
          <a:xfrm>
            <a:off x="9827181" y="2950131"/>
            <a:ext cx="3803333" cy="179593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best_model_advanced.h5 (96.75% accuracy)</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Training history logs</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Performance metrics CSV</a:t>
            </a:r>
            <a:endParaRPr lang="en-US" sz="1550" dirty="0"/>
          </a:p>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All visualization images</a:t>
            </a:r>
            <a:endParaRPr lang="en-US" sz="1550" dirty="0"/>
          </a:p>
        </p:txBody>
      </p:sp>
      <p:sp>
        <p:nvSpPr>
          <p:cNvPr id="12" name="Text 10"/>
          <p:cNvSpPr/>
          <p:nvPr/>
        </p:nvSpPr>
        <p:spPr>
          <a:xfrm>
            <a:off x="793790" y="5879782"/>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All deliverables are organized, version-controlled, and ready for deployment. The code follows best practices with comprehensive comments and modular structure. Documentation includes Jupyter notebooks for reproducibility and detailed methodology descriptions for peer review.</a:t>
            </a:r>
            <a:endParaRPr lang="en-US" sz="1550" dirty="0"/>
          </a:p>
        </p:txBody>
      </p:sp>
      <p:sp>
        <p:nvSpPr>
          <p:cNvPr id="13" name="Rectangle 12"/>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173004" y="806172"/>
            <a:ext cx="9014579" cy="486728"/>
          </a:xfrm>
          <a:prstGeom prst="rect">
            <a:avLst/>
          </a:prstGeom>
          <a:noFill/>
          <a:ln/>
        </p:spPr>
        <p:txBody>
          <a:bodyPr wrap="none" lIns="0" tIns="0" rIns="0" bIns="0" rtlCol="0" anchor="t"/>
          <a:lstStyle/>
          <a:p>
            <a:pPr marL="0" indent="0" algn="l">
              <a:lnSpc>
                <a:spcPts val="3800"/>
              </a:lnSpc>
              <a:buNone/>
            </a:pPr>
            <a:r>
              <a:rPr lang="en-US" sz="3050" b="1" dirty="0">
                <a:solidFill>
                  <a:srgbClr val="000000"/>
                </a:solidFill>
                <a:latin typeface="Inter Bold" pitchFamily="34" charset="0"/>
                <a:ea typeface="Inter Bold" pitchFamily="34" charset="-122"/>
                <a:cs typeface="Inter Bold" pitchFamily="34" charset="-120"/>
              </a:rPr>
              <a:t>Phase 3 Complete: Ready for Final Presentation</a:t>
            </a:r>
            <a:endParaRPr lang="en-US" sz="3050" dirty="0"/>
          </a:p>
        </p:txBody>
      </p:sp>
      <p:sp>
        <p:nvSpPr>
          <p:cNvPr id="3" name="Shape 1"/>
          <p:cNvSpPr/>
          <p:nvPr/>
        </p:nvSpPr>
        <p:spPr>
          <a:xfrm>
            <a:off x="1173004" y="1537335"/>
            <a:ext cx="350401" cy="350401"/>
          </a:xfrm>
          <a:prstGeom prst="roundRect">
            <a:avLst>
              <a:gd name="adj" fmla="val 18672"/>
            </a:avLst>
          </a:prstGeom>
          <a:solidFill>
            <a:srgbClr val="DADBF1"/>
          </a:solidFill>
          <a:ln w="7620">
            <a:solidFill>
              <a:srgbClr val="C0C1D7"/>
            </a:solidFill>
            <a:prstDash val="solid"/>
          </a:ln>
        </p:spPr>
      </p:sp>
      <p:sp>
        <p:nvSpPr>
          <p:cNvPr id="4" name="Text 2"/>
          <p:cNvSpPr/>
          <p:nvPr/>
        </p:nvSpPr>
        <p:spPr>
          <a:xfrm>
            <a:off x="1231344" y="1566446"/>
            <a:ext cx="233601" cy="292060"/>
          </a:xfrm>
          <a:prstGeom prst="rect">
            <a:avLst/>
          </a:prstGeom>
          <a:noFill/>
          <a:ln/>
        </p:spPr>
        <p:txBody>
          <a:bodyPr wrap="none" lIns="0" tIns="0" rIns="0" bIns="0" rtlCol="0" anchor="t"/>
          <a:lstStyle/>
          <a:p>
            <a:pPr marL="0" indent="0" algn="ctr">
              <a:lnSpc>
                <a:spcPts val="1800"/>
              </a:lnSpc>
              <a:buNone/>
            </a:pPr>
            <a:r>
              <a:rPr lang="en-US" sz="1800" b="1" dirty="0">
                <a:solidFill>
                  <a:srgbClr val="272525"/>
                </a:solidFill>
                <a:latin typeface="Inter Bold" pitchFamily="34" charset="0"/>
                <a:ea typeface="Inter Bold" pitchFamily="34" charset="-122"/>
                <a:cs typeface="Inter Bold" pitchFamily="34" charset="-120"/>
              </a:rPr>
              <a:t>1</a:t>
            </a:r>
            <a:endParaRPr lang="en-US" sz="1800" dirty="0"/>
          </a:p>
        </p:txBody>
      </p:sp>
      <p:sp>
        <p:nvSpPr>
          <p:cNvPr id="5" name="Text 3"/>
          <p:cNvSpPr/>
          <p:nvPr/>
        </p:nvSpPr>
        <p:spPr>
          <a:xfrm>
            <a:off x="1645563" y="1590794"/>
            <a:ext cx="4667131" cy="243245"/>
          </a:xfrm>
          <a:prstGeom prst="rect">
            <a:avLst/>
          </a:prstGeom>
          <a:noFill/>
          <a:ln/>
        </p:spPr>
        <p:txBody>
          <a:bodyPr wrap="none" lIns="0" tIns="0" rIns="0" bIns="0" rtlCol="0" anchor="t"/>
          <a:lstStyle/>
          <a:p>
            <a:pPr marL="0" indent="0" algn="l">
              <a:lnSpc>
                <a:spcPts val="1900"/>
              </a:lnSpc>
              <a:buNone/>
            </a:pPr>
            <a:r>
              <a:rPr lang="en-US" sz="1500" b="1" dirty="0">
                <a:solidFill>
                  <a:srgbClr val="272525"/>
                </a:solidFill>
                <a:latin typeface="Inter Bold" pitchFamily="34" charset="0"/>
                <a:ea typeface="Inter Bold" pitchFamily="34" charset="-122"/>
                <a:cs typeface="Inter Bold" pitchFamily="34" charset="-120"/>
              </a:rPr>
              <a:t>Advanced CNN-LSTM Successfully Implemented</a:t>
            </a:r>
            <a:endParaRPr lang="en-US" sz="1500" dirty="0"/>
          </a:p>
        </p:txBody>
      </p:sp>
      <p:sp>
        <p:nvSpPr>
          <p:cNvPr id="6" name="Text 4"/>
          <p:cNvSpPr/>
          <p:nvPr/>
        </p:nvSpPr>
        <p:spPr>
          <a:xfrm>
            <a:off x="1645563" y="1907381"/>
            <a:ext cx="11811714" cy="222290"/>
          </a:xfrm>
          <a:prstGeom prst="rect">
            <a:avLst/>
          </a:prstGeom>
          <a:noFill/>
          <a:ln/>
        </p:spPr>
        <p:txBody>
          <a:bodyPr wrap="non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Architecture with 5 CNN blocks, LSTM layers, and batch normalization delivers state-of-the-art performance</a:t>
            </a:r>
            <a:endParaRPr lang="en-US" sz="1200" dirty="0"/>
          </a:p>
        </p:txBody>
      </p:sp>
      <p:sp>
        <p:nvSpPr>
          <p:cNvPr id="7" name="Shape 5"/>
          <p:cNvSpPr/>
          <p:nvPr/>
        </p:nvSpPr>
        <p:spPr>
          <a:xfrm>
            <a:off x="1173004" y="2374106"/>
            <a:ext cx="350401" cy="350401"/>
          </a:xfrm>
          <a:prstGeom prst="roundRect">
            <a:avLst>
              <a:gd name="adj" fmla="val 18672"/>
            </a:avLst>
          </a:prstGeom>
          <a:solidFill>
            <a:srgbClr val="DADBF1"/>
          </a:solidFill>
          <a:ln w="7620">
            <a:solidFill>
              <a:srgbClr val="C0C1D7"/>
            </a:solidFill>
            <a:prstDash val="solid"/>
          </a:ln>
        </p:spPr>
      </p:sp>
      <p:sp>
        <p:nvSpPr>
          <p:cNvPr id="8" name="Text 6"/>
          <p:cNvSpPr/>
          <p:nvPr/>
        </p:nvSpPr>
        <p:spPr>
          <a:xfrm>
            <a:off x="1231344" y="2403217"/>
            <a:ext cx="233601" cy="292060"/>
          </a:xfrm>
          <a:prstGeom prst="rect">
            <a:avLst/>
          </a:prstGeom>
          <a:noFill/>
          <a:ln/>
        </p:spPr>
        <p:txBody>
          <a:bodyPr wrap="none" lIns="0" tIns="0" rIns="0" bIns="0" rtlCol="0" anchor="t"/>
          <a:lstStyle/>
          <a:p>
            <a:pPr marL="0" indent="0" algn="ctr">
              <a:lnSpc>
                <a:spcPts val="1800"/>
              </a:lnSpc>
              <a:buNone/>
            </a:pPr>
            <a:r>
              <a:rPr lang="en-US" sz="1800" b="1" dirty="0">
                <a:solidFill>
                  <a:srgbClr val="272525"/>
                </a:solidFill>
                <a:latin typeface="Inter Bold" pitchFamily="34" charset="0"/>
                <a:ea typeface="Inter Bold" pitchFamily="34" charset="-122"/>
                <a:cs typeface="Inter Bold" pitchFamily="34" charset="-120"/>
              </a:rPr>
              <a:t>2</a:t>
            </a:r>
            <a:endParaRPr lang="en-US" sz="1800" dirty="0"/>
          </a:p>
        </p:txBody>
      </p:sp>
      <p:sp>
        <p:nvSpPr>
          <p:cNvPr id="9" name="Text 7"/>
          <p:cNvSpPr/>
          <p:nvPr/>
        </p:nvSpPr>
        <p:spPr>
          <a:xfrm>
            <a:off x="1645563" y="2427565"/>
            <a:ext cx="2508409" cy="243245"/>
          </a:xfrm>
          <a:prstGeom prst="rect">
            <a:avLst/>
          </a:prstGeom>
          <a:noFill/>
          <a:ln/>
        </p:spPr>
        <p:txBody>
          <a:bodyPr wrap="none" lIns="0" tIns="0" rIns="0" bIns="0" rtlCol="0" anchor="t"/>
          <a:lstStyle/>
          <a:p>
            <a:pPr marL="0" indent="0" algn="l">
              <a:lnSpc>
                <a:spcPts val="1900"/>
              </a:lnSpc>
              <a:buNone/>
            </a:pPr>
            <a:r>
              <a:rPr lang="en-US" sz="1500" b="1" dirty="0">
                <a:solidFill>
                  <a:srgbClr val="272525"/>
                </a:solidFill>
                <a:latin typeface="Inter Bold" pitchFamily="34" charset="0"/>
                <a:ea typeface="Inter Bold" pitchFamily="34" charset="-122"/>
                <a:cs typeface="Inter Bold" pitchFamily="34" charset="-120"/>
              </a:rPr>
              <a:t>Target Accuracy Achieved</a:t>
            </a:r>
            <a:endParaRPr lang="en-US" sz="1500" dirty="0"/>
          </a:p>
        </p:txBody>
      </p:sp>
      <p:sp>
        <p:nvSpPr>
          <p:cNvPr id="10" name="Text 8"/>
          <p:cNvSpPr/>
          <p:nvPr/>
        </p:nvSpPr>
        <p:spPr>
          <a:xfrm>
            <a:off x="1645563" y="2744152"/>
            <a:ext cx="11811714" cy="222290"/>
          </a:xfrm>
          <a:prstGeom prst="rect">
            <a:avLst/>
          </a:prstGeom>
          <a:noFill/>
          <a:ln/>
        </p:spPr>
        <p:txBody>
          <a:bodyPr wrap="non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96.75% accuracy exceeds 95% target by 1.8 percentage points</a:t>
            </a:r>
            <a:endParaRPr lang="en-US" sz="1200" dirty="0"/>
          </a:p>
        </p:txBody>
      </p:sp>
      <p:sp>
        <p:nvSpPr>
          <p:cNvPr id="11" name="Shape 9"/>
          <p:cNvSpPr/>
          <p:nvPr/>
        </p:nvSpPr>
        <p:spPr>
          <a:xfrm>
            <a:off x="1173004" y="3210877"/>
            <a:ext cx="350401" cy="350401"/>
          </a:xfrm>
          <a:prstGeom prst="roundRect">
            <a:avLst>
              <a:gd name="adj" fmla="val 18672"/>
            </a:avLst>
          </a:prstGeom>
          <a:solidFill>
            <a:srgbClr val="DADBF1"/>
          </a:solidFill>
          <a:ln w="7620">
            <a:solidFill>
              <a:srgbClr val="C0C1D7"/>
            </a:solidFill>
            <a:prstDash val="solid"/>
          </a:ln>
        </p:spPr>
      </p:sp>
      <p:sp>
        <p:nvSpPr>
          <p:cNvPr id="12" name="Text 10"/>
          <p:cNvSpPr/>
          <p:nvPr/>
        </p:nvSpPr>
        <p:spPr>
          <a:xfrm>
            <a:off x="1231344" y="3239988"/>
            <a:ext cx="233601" cy="292060"/>
          </a:xfrm>
          <a:prstGeom prst="rect">
            <a:avLst/>
          </a:prstGeom>
          <a:noFill/>
          <a:ln/>
        </p:spPr>
        <p:txBody>
          <a:bodyPr wrap="none" lIns="0" tIns="0" rIns="0" bIns="0" rtlCol="0" anchor="t"/>
          <a:lstStyle/>
          <a:p>
            <a:pPr marL="0" indent="0" algn="ctr">
              <a:lnSpc>
                <a:spcPts val="1800"/>
              </a:lnSpc>
              <a:buNone/>
            </a:pPr>
            <a:r>
              <a:rPr lang="en-US" sz="1800" b="1" dirty="0">
                <a:solidFill>
                  <a:srgbClr val="272525"/>
                </a:solidFill>
                <a:latin typeface="Inter Bold" pitchFamily="34" charset="0"/>
                <a:ea typeface="Inter Bold" pitchFamily="34" charset="-122"/>
                <a:cs typeface="Inter Bold" pitchFamily="34" charset="-120"/>
              </a:rPr>
              <a:t>3</a:t>
            </a:r>
            <a:endParaRPr lang="en-US" sz="1800" dirty="0"/>
          </a:p>
        </p:txBody>
      </p:sp>
      <p:sp>
        <p:nvSpPr>
          <p:cNvPr id="13" name="Text 11"/>
          <p:cNvSpPr/>
          <p:nvPr/>
        </p:nvSpPr>
        <p:spPr>
          <a:xfrm>
            <a:off x="1645563" y="3264337"/>
            <a:ext cx="3697843" cy="243245"/>
          </a:xfrm>
          <a:prstGeom prst="rect">
            <a:avLst/>
          </a:prstGeom>
          <a:noFill/>
          <a:ln/>
        </p:spPr>
        <p:txBody>
          <a:bodyPr wrap="none" lIns="0" tIns="0" rIns="0" bIns="0" rtlCol="0" anchor="t"/>
          <a:lstStyle/>
          <a:p>
            <a:pPr marL="0" indent="0" algn="l">
              <a:lnSpc>
                <a:spcPts val="1900"/>
              </a:lnSpc>
              <a:buNone/>
            </a:pPr>
            <a:r>
              <a:rPr lang="en-US" sz="1500" b="1" dirty="0">
                <a:solidFill>
                  <a:srgbClr val="272525"/>
                </a:solidFill>
                <a:latin typeface="Inter Bold" pitchFamily="34" charset="0"/>
                <a:ea typeface="Inter Bold" pitchFamily="34" charset="-122"/>
                <a:cs typeface="Inter Bold" pitchFamily="34" charset="-120"/>
              </a:rPr>
              <a:t>Significant Improvement Over Baseline</a:t>
            </a:r>
            <a:endParaRPr lang="en-US" sz="1500" dirty="0"/>
          </a:p>
        </p:txBody>
      </p:sp>
      <p:sp>
        <p:nvSpPr>
          <p:cNvPr id="14" name="Text 12"/>
          <p:cNvSpPr/>
          <p:nvPr/>
        </p:nvSpPr>
        <p:spPr>
          <a:xfrm>
            <a:off x="1645563" y="3580924"/>
            <a:ext cx="11811714" cy="222290"/>
          </a:xfrm>
          <a:prstGeom prst="rect">
            <a:avLst/>
          </a:prstGeom>
          <a:noFill/>
          <a:ln/>
        </p:spPr>
        <p:txBody>
          <a:bodyPr wrap="non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+3.25% accuracy gain, 50% error reduction vs. Method-1</a:t>
            </a:r>
            <a:endParaRPr lang="en-US" sz="1200" dirty="0"/>
          </a:p>
        </p:txBody>
      </p:sp>
      <p:sp>
        <p:nvSpPr>
          <p:cNvPr id="15" name="Shape 13"/>
          <p:cNvSpPr/>
          <p:nvPr/>
        </p:nvSpPr>
        <p:spPr>
          <a:xfrm>
            <a:off x="1173004" y="4047649"/>
            <a:ext cx="350401" cy="350401"/>
          </a:xfrm>
          <a:prstGeom prst="roundRect">
            <a:avLst>
              <a:gd name="adj" fmla="val 18672"/>
            </a:avLst>
          </a:prstGeom>
          <a:solidFill>
            <a:srgbClr val="DADBF1"/>
          </a:solidFill>
          <a:ln w="7620">
            <a:solidFill>
              <a:srgbClr val="C0C1D7"/>
            </a:solidFill>
            <a:prstDash val="solid"/>
          </a:ln>
        </p:spPr>
      </p:sp>
      <p:sp>
        <p:nvSpPr>
          <p:cNvPr id="16" name="Text 14"/>
          <p:cNvSpPr/>
          <p:nvPr/>
        </p:nvSpPr>
        <p:spPr>
          <a:xfrm>
            <a:off x="1231344" y="4076760"/>
            <a:ext cx="233601" cy="292060"/>
          </a:xfrm>
          <a:prstGeom prst="rect">
            <a:avLst/>
          </a:prstGeom>
          <a:noFill/>
          <a:ln/>
        </p:spPr>
        <p:txBody>
          <a:bodyPr wrap="none" lIns="0" tIns="0" rIns="0" bIns="0" rtlCol="0" anchor="t"/>
          <a:lstStyle/>
          <a:p>
            <a:pPr marL="0" indent="0" algn="ctr">
              <a:lnSpc>
                <a:spcPts val="1800"/>
              </a:lnSpc>
              <a:buNone/>
            </a:pPr>
            <a:r>
              <a:rPr lang="en-US" sz="1800" b="1" dirty="0">
                <a:solidFill>
                  <a:srgbClr val="272525"/>
                </a:solidFill>
                <a:latin typeface="Inter Bold" pitchFamily="34" charset="0"/>
                <a:ea typeface="Inter Bold" pitchFamily="34" charset="-122"/>
                <a:cs typeface="Inter Bold" pitchFamily="34" charset="-120"/>
              </a:rPr>
              <a:t>4</a:t>
            </a:r>
            <a:endParaRPr lang="en-US" sz="1800" dirty="0"/>
          </a:p>
        </p:txBody>
      </p:sp>
      <p:sp>
        <p:nvSpPr>
          <p:cNvPr id="17" name="Text 15"/>
          <p:cNvSpPr/>
          <p:nvPr/>
        </p:nvSpPr>
        <p:spPr>
          <a:xfrm>
            <a:off x="1645563" y="4101108"/>
            <a:ext cx="2442210" cy="243245"/>
          </a:xfrm>
          <a:prstGeom prst="rect">
            <a:avLst/>
          </a:prstGeom>
          <a:noFill/>
          <a:ln/>
        </p:spPr>
        <p:txBody>
          <a:bodyPr wrap="none" lIns="0" tIns="0" rIns="0" bIns="0" rtlCol="0" anchor="t"/>
          <a:lstStyle/>
          <a:p>
            <a:pPr marL="0" indent="0" algn="l">
              <a:lnSpc>
                <a:spcPts val="1900"/>
              </a:lnSpc>
              <a:buNone/>
            </a:pPr>
            <a:r>
              <a:rPr lang="en-US" sz="1500" b="1" dirty="0">
                <a:solidFill>
                  <a:srgbClr val="272525"/>
                </a:solidFill>
                <a:latin typeface="Inter Bold" pitchFamily="34" charset="0"/>
                <a:ea typeface="Inter Bold" pitchFamily="34" charset="-122"/>
                <a:cs typeface="Inter Bold" pitchFamily="34" charset="-120"/>
              </a:rPr>
              <a:t>All Deliverables Complete</a:t>
            </a:r>
            <a:endParaRPr lang="en-US" sz="1500" dirty="0"/>
          </a:p>
        </p:txBody>
      </p:sp>
      <p:sp>
        <p:nvSpPr>
          <p:cNvPr id="18" name="Text 16"/>
          <p:cNvSpPr/>
          <p:nvPr/>
        </p:nvSpPr>
        <p:spPr>
          <a:xfrm>
            <a:off x="1645563" y="4417695"/>
            <a:ext cx="11811714" cy="222290"/>
          </a:xfrm>
          <a:prstGeom prst="rect">
            <a:avLst/>
          </a:prstGeom>
          <a:noFill/>
          <a:ln/>
        </p:spPr>
        <p:txBody>
          <a:bodyPr wrap="non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Code, documentation, models, and visualizations ready for review</a:t>
            </a:r>
            <a:endParaRPr lang="en-US" sz="1200" dirty="0"/>
          </a:p>
        </p:txBody>
      </p:sp>
      <p:sp>
        <p:nvSpPr>
          <p:cNvPr id="19" name="Shape 17"/>
          <p:cNvSpPr/>
          <p:nvPr/>
        </p:nvSpPr>
        <p:spPr>
          <a:xfrm>
            <a:off x="1173004" y="4884420"/>
            <a:ext cx="350401" cy="350401"/>
          </a:xfrm>
          <a:prstGeom prst="roundRect">
            <a:avLst>
              <a:gd name="adj" fmla="val 18672"/>
            </a:avLst>
          </a:prstGeom>
          <a:solidFill>
            <a:srgbClr val="DADBF1"/>
          </a:solidFill>
          <a:ln w="7620">
            <a:solidFill>
              <a:srgbClr val="C0C1D7"/>
            </a:solidFill>
            <a:prstDash val="solid"/>
          </a:ln>
        </p:spPr>
      </p:sp>
      <p:sp>
        <p:nvSpPr>
          <p:cNvPr id="20" name="Text 18"/>
          <p:cNvSpPr/>
          <p:nvPr/>
        </p:nvSpPr>
        <p:spPr>
          <a:xfrm>
            <a:off x="1231344" y="4913531"/>
            <a:ext cx="233601" cy="292060"/>
          </a:xfrm>
          <a:prstGeom prst="rect">
            <a:avLst/>
          </a:prstGeom>
          <a:noFill/>
          <a:ln/>
        </p:spPr>
        <p:txBody>
          <a:bodyPr wrap="none" lIns="0" tIns="0" rIns="0" bIns="0" rtlCol="0" anchor="t"/>
          <a:lstStyle/>
          <a:p>
            <a:pPr marL="0" indent="0" algn="ctr">
              <a:lnSpc>
                <a:spcPts val="1800"/>
              </a:lnSpc>
              <a:buNone/>
            </a:pPr>
            <a:r>
              <a:rPr lang="en-US" sz="1800" b="1" dirty="0">
                <a:solidFill>
                  <a:srgbClr val="272525"/>
                </a:solidFill>
                <a:latin typeface="Inter Bold" pitchFamily="34" charset="0"/>
                <a:ea typeface="Inter Bold" pitchFamily="34" charset="-122"/>
                <a:cs typeface="Inter Bold" pitchFamily="34" charset="-120"/>
              </a:rPr>
              <a:t>5</a:t>
            </a:r>
            <a:endParaRPr lang="en-US" sz="1800" dirty="0"/>
          </a:p>
        </p:txBody>
      </p:sp>
      <p:sp>
        <p:nvSpPr>
          <p:cNvPr id="21" name="Text 19"/>
          <p:cNvSpPr/>
          <p:nvPr/>
        </p:nvSpPr>
        <p:spPr>
          <a:xfrm>
            <a:off x="1645563" y="4937879"/>
            <a:ext cx="2227302" cy="243245"/>
          </a:xfrm>
          <a:prstGeom prst="rect">
            <a:avLst/>
          </a:prstGeom>
          <a:noFill/>
          <a:ln/>
        </p:spPr>
        <p:txBody>
          <a:bodyPr wrap="none" lIns="0" tIns="0" rIns="0" bIns="0" rtlCol="0" anchor="t"/>
          <a:lstStyle/>
          <a:p>
            <a:pPr marL="0" indent="0" algn="l">
              <a:lnSpc>
                <a:spcPts val="1900"/>
              </a:lnSpc>
              <a:buNone/>
            </a:pPr>
            <a:r>
              <a:rPr lang="en-US" sz="1500" b="1" dirty="0">
                <a:solidFill>
                  <a:srgbClr val="272525"/>
                </a:solidFill>
                <a:latin typeface="Inter Bold" pitchFamily="34" charset="0"/>
                <a:ea typeface="Inter Bold" pitchFamily="34" charset="-122"/>
                <a:cs typeface="Inter Bold" pitchFamily="34" charset="-120"/>
              </a:rPr>
              <a:t>Clinical Readiness High</a:t>
            </a:r>
            <a:endParaRPr lang="en-US" sz="1500" dirty="0"/>
          </a:p>
        </p:txBody>
      </p:sp>
      <p:sp>
        <p:nvSpPr>
          <p:cNvPr id="22" name="Text 20"/>
          <p:cNvSpPr/>
          <p:nvPr/>
        </p:nvSpPr>
        <p:spPr>
          <a:xfrm>
            <a:off x="1645563" y="5254466"/>
            <a:ext cx="11811714" cy="222290"/>
          </a:xfrm>
          <a:prstGeom prst="rect">
            <a:avLst/>
          </a:prstGeom>
          <a:noFill/>
          <a:ln/>
        </p:spPr>
        <p:txBody>
          <a:bodyPr wrap="non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Excellent sensitivity, fast inference, ready for Phase 4 deployment</a:t>
            </a:r>
            <a:endParaRPr lang="en-US" sz="1200" dirty="0"/>
          </a:p>
        </p:txBody>
      </p:sp>
      <p:sp>
        <p:nvSpPr>
          <p:cNvPr id="23" name="Text 21"/>
          <p:cNvSpPr/>
          <p:nvPr/>
        </p:nvSpPr>
        <p:spPr>
          <a:xfrm>
            <a:off x="1173004" y="5692140"/>
            <a:ext cx="3992880" cy="513993"/>
          </a:xfrm>
          <a:prstGeom prst="rect">
            <a:avLst/>
          </a:prstGeom>
          <a:noFill/>
          <a:ln/>
        </p:spPr>
        <p:txBody>
          <a:bodyPr wrap="none" lIns="0" tIns="0" rIns="0" bIns="0" rtlCol="0" anchor="t"/>
          <a:lstStyle/>
          <a:p>
            <a:pPr marL="0" indent="0" algn="ctr">
              <a:lnSpc>
                <a:spcPts val="4000"/>
              </a:lnSpc>
              <a:buNone/>
            </a:pPr>
            <a:r>
              <a:rPr lang="en-US" sz="4000" b="1" dirty="0">
                <a:solidFill>
                  <a:srgbClr val="272525"/>
                </a:solidFill>
                <a:latin typeface="Inter Bold" pitchFamily="34" charset="0"/>
                <a:ea typeface="Inter Bold" pitchFamily="34" charset="-122"/>
                <a:cs typeface="Inter Bold" pitchFamily="34" charset="-120"/>
              </a:rPr>
              <a:t>96.8%</a:t>
            </a:r>
            <a:endParaRPr lang="en-US" sz="4000" dirty="0"/>
          </a:p>
        </p:txBody>
      </p:sp>
      <p:sp>
        <p:nvSpPr>
          <p:cNvPr id="24" name="Text 22"/>
          <p:cNvSpPr/>
          <p:nvPr/>
        </p:nvSpPr>
        <p:spPr>
          <a:xfrm>
            <a:off x="2195870" y="6375678"/>
            <a:ext cx="1947148" cy="243245"/>
          </a:xfrm>
          <a:prstGeom prst="rect">
            <a:avLst/>
          </a:prstGeom>
          <a:noFill/>
          <a:ln/>
        </p:spPr>
        <p:txBody>
          <a:bodyPr wrap="none" lIns="0" tIns="0" rIns="0" bIns="0" rtlCol="0" anchor="t"/>
          <a:lstStyle/>
          <a:p>
            <a:pPr marL="0" indent="0" algn="ctr">
              <a:lnSpc>
                <a:spcPts val="1900"/>
              </a:lnSpc>
              <a:buNone/>
            </a:pPr>
            <a:r>
              <a:rPr lang="en-US" sz="1500" b="1" dirty="0">
                <a:solidFill>
                  <a:srgbClr val="272525"/>
                </a:solidFill>
                <a:latin typeface="Inter Bold" pitchFamily="34" charset="0"/>
                <a:ea typeface="Inter Bold" pitchFamily="34" charset="-122"/>
                <a:cs typeface="Inter Bold" pitchFamily="34" charset="-120"/>
              </a:rPr>
              <a:t>Method-2 Accuracy</a:t>
            </a:r>
            <a:endParaRPr lang="en-US" sz="1500" dirty="0"/>
          </a:p>
        </p:txBody>
      </p:sp>
      <p:sp>
        <p:nvSpPr>
          <p:cNvPr id="25" name="Text 23"/>
          <p:cNvSpPr/>
          <p:nvPr/>
        </p:nvSpPr>
        <p:spPr>
          <a:xfrm>
            <a:off x="5318641" y="5692140"/>
            <a:ext cx="3992880" cy="513993"/>
          </a:xfrm>
          <a:prstGeom prst="rect">
            <a:avLst/>
          </a:prstGeom>
          <a:noFill/>
          <a:ln/>
        </p:spPr>
        <p:txBody>
          <a:bodyPr wrap="none" lIns="0" tIns="0" rIns="0" bIns="0" rtlCol="0" anchor="t"/>
          <a:lstStyle/>
          <a:p>
            <a:pPr marL="0" indent="0" algn="ctr">
              <a:lnSpc>
                <a:spcPts val="4000"/>
              </a:lnSpc>
              <a:buNone/>
            </a:pPr>
            <a:r>
              <a:rPr lang="en-US" sz="4000" b="1" dirty="0">
                <a:solidFill>
                  <a:srgbClr val="272525"/>
                </a:solidFill>
                <a:latin typeface="Inter Bold" pitchFamily="34" charset="0"/>
                <a:ea typeface="Inter Bold" pitchFamily="34" charset="-122"/>
                <a:cs typeface="Inter Bold" pitchFamily="34" charset="-120"/>
              </a:rPr>
              <a:t>93.5%</a:t>
            </a:r>
            <a:endParaRPr lang="en-US" sz="4000" dirty="0"/>
          </a:p>
        </p:txBody>
      </p:sp>
      <p:sp>
        <p:nvSpPr>
          <p:cNvPr id="26" name="Text 24"/>
          <p:cNvSpPr/>
          <p:nvPr/>
        </p:nvSpPr>
        <p:spPr>
          <a:xfrm>
            <a:off x="6341507" y="6375678"/>
            <a:ext cx="1947148" cy="243245"/>
          </a:xfrm>
          <a:prstGeom prst="rect">
            <a:avLst/>
          </a:prstGeom>
          <a:noFill/>
          <a:ln/>
        </p:spPr>
        <p:txBody>
          <a:bodyPr wrap="none" lIns="0" tIns="0" rIns="0" bIns="0" rtlCol="0" anchor="t"/>
          <a:lstStyle/>
          <a:p>
            <a:pPr marL="0" indent="0" algn="ctr">
              <a:lnSpc>
                <a:spcPts val="1900"/>
              </a:lnSpc>
              <a:buNone/>
            </a:pPr>
            <a:r>
              <a:rPr lang="en-US" sz="1500" b="1" dirty="0">
                <a:solidFill>
                  <a:srgbClr val="272525"/>
                </a:solidFill>
                <a:latin typeface="Inter Bold" pitchFamily="34" charset="0"/>
                <a:ea typeface="Inter Bold" pitchFamily="34" charset="-122"/>
                <a:cs typeface="Inter Bold" pitchFamily="34" charset="-120"/>
              </a:rPr>
              <a:t>Method-1 Baseline</a:t>
            </a:r>
            <a:endParaRPr lang="en-US" sz="1500" dirty="0"/>
          </a:p>
        </p:txBody>
      </p:sp>
      <p:sp>
        <p:nvSpPr>
          <p:cNvPr id="27" name="Text 25"/>
          <p:cNvSpPr/>
          <p:nvPr/>
        </p:nvSpPr>
        <p:spPr>
          <a:xfrm>
            <a:off x="9464278" y="5692140"/>
            <a:ext cx="3992880" cy="513993"/>
          </a:xfrm>
          <a:prstGeom prst="rect">
            <a:avLst/>
          </a:prstGeom>
          <a:noFill/>
          <a:ln/>
        </p:spPr>
        <p:txBody>
          <a:bodyPr wrap="none" lIns="0" tIns="0" rIns="0" bIns="0" rtlCol="0" anchor="t"/>
          <a:lstStyle/>
          <a:p>
            <a:pPr marL="0" indent="0" algn="ctr">
              <a:lnSpc>
                <a:spcPts val="4000"/>
              </a:lnSpc>
              <a:buNone/>
            </a:pPr>
            <a:r>
              <a:rPr lang="en-US" sz="4000" b="1" dirty="0">
                <a:solidFill>
                  <a:srgbClr val="272525"/>
                </a:solidFill>
                <a:latin typeface="Inter Bold" pitchFamily="34" charset="0"/>
                <a:ea typeface="Inter Bold" pitchFamily="34" charset="-122"/>
                <a:cs typeface="Inter Bold" pitchFamily="34" charset="-120"/>
              </a:rPr>
              <a:t>+3.3</a:t>
            </a:r>
            <a:endParaRPr lang="en-US" sz="4000" dirty="0"/>
          </a:p>
        </p:txBody>
      </p:sp>
      <p:sp>
        <p:nvSpPr>
          <p:cNvPr id="28" name="Text 26"/>
          <p:cNvSpPr/>
          <p:nvPr/>
        </p:nvSpPr>
        <p:spPr>
          <a:xfrm>
            <a:off x="10487144" y="6375678"/>
            <a:ext cx="1947148" cy="243245"/>
          </a:xfrm>
          <a:prstGeom prst="rect">
            <a:avLst/>
          </a:prstGeom>
          <a:noFill/>
          <a:ln/>
        </p:spPr>
        <p:txBody>
          <a:bodyPr wrap="none" lIns="0" tIns="0" rIns="0" bIns="0" rtlCol="0" anchor="t"/>
          <a:lstStyle/>
          <a:p>
            <a:pPr marL="0" indent="0" algn="ctr">
              <a:lnSpc>
                <a:spcPts val="1900"/>
              </a:lnSpc>
              <a:buNone/>
            </a:pPr>
            <a:r>
              <a:rPr lang="en-US" sz="1500" b="1" dirty="0">
                <a:solidFill>
                  <a:srgbClr val="272525"/>
                </a:solidFill>
                <a:latin typeface="Inter Bold" pitchFamily="34" charset="0"/>
                <a:ea typeface="Inter Bold" pitchFamily="34" charset="-122"/>
                <a:cs typeface="Inter Bold" pitchFamily="34" charset="-120"/>
              </a:rPr>
              <a:t>Improvement Points</a:t>
            </a:r>
            <a:endParaRPr lang="en-US" sz="1500" dirty="0"/>
          </a:p>
        </p:txBody>
      </p:sp>
      <p:sp>
        <p:nvSpPr>
          <p:cNvPr id="29" name="Text 27"/>
          <p:cNvSpPr/>
          <p:nvPr/>
        </p:nvSpPr>
        <p:spPr>
          <a:xfrm>
            <a:off x="1173004" y="6756440"/>
            <a:ext cx="12284273" cy="666869"/>
          </a:xfrm>
          <a:prstGeom prst="rect">
            <a:avLst/>
          </a:prstGeom>
          <a:noFill/>
          <a:ln/>
        </p:spPr>
        <p:txBody>
          <a:bodyPr wrap="squar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Phase 3 represents a major milestone in our brain tumor detection project, delivering a clinically viable model that exceeds all performance targets. The 3.3 percentage point improvement over the baseline CNN, combined with 50% error reduction, demonstrates the value of our architectural innovations. The model is now ready for final presentation and preparation for real-world clinical testing in Phase 4.</a:t>
            </a:r>
            <a:endParaRPr lang="en-US" sz="1200" dirty="0"/>
          </a:p>
        </p:txBody>
      </p:sp>
      <p:sp>
        <p:nvSpPr>
          <p:cNvPr id="30" name="Rectangle 29"/>
          <p:cNvSpPr/>
          <p:nvPr/>
        </p:nvSpPr>
        <p:spPr>
          <a:xfrm>
            <a:off x="12699009" y="7775019"/>
            <a:ext cx="1807405" cy="427137"/>
          </a:xfrm>
          <a:prstGeom prst="rect">
            <a:avLst/>
          </a:prstGeom>
          <a:ln>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1026</Words>
  <Application>Microsoft Office PowerPoint</Application>
  <PresentationFormat>Custom</PresentationFormat>
  <Paragraphs>171</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Kanit Light</vt:lpstr>
      <vt:lpstr>Inter Light</vt:lpstr>
      <vt:lpstr>Inter Bold</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INDIA</dc:creator>
  <cp:lastModifiedBy>INDIA</cp:lastModifiedBy>
  <cp:revision>3</cp:revision>
  <dcterms:created xsi:type="dcterms:W3CDTF">2026-03-12T17:33:07Z</dcterms:created>
  <dcterms:modified xsi:type="dcterms:W3CDTF">2026-03-12T17:59:19Z</dcterms:modified>
</cp:coreProperties>
</file>