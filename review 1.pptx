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59" r:id="rId6"/>
    <p:sldId id="260" r:id="rId7"/>
    <p:sldId id="267" r:id="rId8"/>
    <p:sldId id="261" r:id="rId9"/>
    <p:sldId id="268" r:id="rId10"/>
    <p:sldId id="262" r:id="rId11"/>
    <p:sldId id="263" r:id="rId12"/>
    <p:sldId id="264" r:id="rId13"/>
    <p:sldId id="265" r:id="rId14"/>
  </p:sldIdLst>
  <p:sldSz cx="10058400" cy="7772400"/>
  <p:notesSz cx="7772400" cy="10058400"/>
  <p:embeddedFontLst>
    <p:embeddedFont>
      <p:font typeface="Kanit Light" panose="020B0604020202020204" charset="-34"/>
      <p:regular r:id="rId16"/>
    </p:embeddedFont>
    <p:embeddedFont>
      <p:font typeface="Martel Sans" panose="020B0604020202020204" charset="0"/>
      <p:regular r:id="rId17"/>
    </p:embeddedFont>
    <p:embeddedFont>
      <p:font typeface="Bahnschrift SemiBold" panose="020B0502040204020203" pitchFamily="34" charset="0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135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1041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215" y="72923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215" y="72923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215" y="72923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215" y="72923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215" y="72923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215" y="72923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215" y="72923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215" y="72923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215" y="72923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215" y="72923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-9-6.svg"/><Relationship Id="rId5" Type="http://schemas.openxmlformats.org/officeDocument/2006/relationships/image" Target="../media/image-9-4.svg"/><Relationship Id="rId4" Type="http://schemas.openxmlformats.org/officeDocument/2006/relationships/image" Target="../media/image-9-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2"/>
            <a:ext cx="10058400" cy="77704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5922" y="2271751"/>
            <a:ext cx="8766557" cy="1153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Brain Tumor Detection using Hybrid CNN-LSTM: 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45922" y="3498709"/>
            <a:ext cx="6391439" cy="576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</a:t>
            </a:r>
            <a:r>
              <a:rPr lang="en-US" sz="3600" dirty="0" smtClean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 </a:t>
            </a:r>
            <a:r>
              <a:rPr lang="en-US" sz="3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Implementation Report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5922" y="4352089"/>
            <a:ext cx="8766557" cy="2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45922" y="4924119"/>
            <a:ext cx="6507046" cy="576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D45"/>
                </a:solidFill>
                <a:latin typeface="Arial" panose="020B0604020202020204" pitchFamily="34" charset="0"/>
                <a:ea typeface="Kanit Light" pitchFamily="34" charset="-122"/>
                <a:cs typeface="Arial" panose="020B0604020202020204" pitchFamily="34" charset="0"/>
              </a:rPr>
              <a:t>Name:</a:t>
            </a:r>
            <a:r>
              <a:rPr lang="en-US" sz="1800" dirty="0">
                <a:solidFill>
                  <a:srgbClr val="272D45"/>
                </a:solidFill>
                <a:latin typeface="Arial" panose="020B0604020202020204" pitchFamily="34" charset="0"/>
                <a:ea typeface="Kanit Light" pitchFamily="34" charset="-122"/>
                <a:cs typeface="Arial" panose="020B0604020202020204" pitchFamily="34" charset="0"/>
              </a:rPr>
              <a:t> Chirayu Jaju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250"/>
              </a:lnSpc>
            </a:pPr>
            <a:r>
              <a:rPr lang="en-US" sz="1800" b="1" dirty="0">
                <a:solidFill>
                  <a:srgbClr val="272D45"/>
                </a:solidFill>
                <a:latin typeface="Arial" panose="020B0604020202020204" pitchFamily="34" charset="0"/>
                <a:ea typeface="Kanit Light" pitchFamily="34" charset="-122"/>
                <a:cs typeface="Arial" panose="020B0604020202020204" pitchFamily="34" charset="0"/>
              </a:rPr>
              <a:t>Registration </a:t>
            </a:r>
            <a:r>
              <a:rPr lang="en-US" sz="1800" b="1" dirty="0" smtClean="0">
                <a:solidFill>
                  <a:srgbClr val="272D45"/>
                </a:solidFill>
                <a:latin typeface="Arial" panose="020B0604020202020204" pitchFamily="34" charset="0"/>
                <a:ea typeface="Kanit Light" pitchFamily="34" charset="-122"/>
                <a:cs typeface="Arial" panose="020B0604020202020204" pitchFamily="34" charset="0"/>
              </a:rPr>
              <a:t>Number:</a:t>
            </a:r>
            <a:r>
              <a:rPr lang="en-US" dirty="0">
                <a:solidFill>
                  <a:srgbClr val="272D45"/>
                </a:solidFill>
                <a:latin typeface="Arial" panose="020B0604020202020204" pitchFamily="34" charset="0"/>
                <a:ea typeface="Kanit Light" pitchFamily="34" charset="-122"/>
                <a:cs typeface="Arial" panose="020B0604020202020204" pitchFamily="34" charset="0"/>
              </a:rPr>
              <a:t>23BCE8442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2250"/>
              </a:lnSpc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922" y="530375"/>
            <a:ext cx="4613865" cy="576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5922" y="1475983"/>
            <a:ext cx="8766557" cy="590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implementation successfully processes 4,311 MRI images, establishes a robust preprocessing pipeline, and develops a baseline CNN model achieving 93.5% accuracy.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5922" y="2274042"/>
            <a:ext cx="4291027" cy="1674516"/>
          </a:xfrm>
          <a:prstGeom prst="roundRect">
            <a:avLst>
              <a:gd name="adj" fmla="val 4629"/>
            </a:avLst>
          </a:prstGeom>
          <a:solidFill>
            <a:srgbClr val="DFECE9"/>
          </a:solidFill>
          <a:ln w="10478">
            <a:solidFill>
              <a:srgbClr val="C5D2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0901" y="2468974"/>
            <a:ext cx="2306933" cy="28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Collection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0901" y="2867840"/>
            <a:ext cx="3901068" cy="885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4,311 MRI images from two Kaggle datasets, perfectly balanced between tumor and healthy classes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121451" y="2274042"/>
            <a:ext cx="4291027" cy="1674516"/>
          </a:xfrm>
          <a:prstGeom prst="roundRect">
            <a:avLst>
              <a:gd name="adj" fmla="val 4629"/>
            </a:avLst>
          </a:prstGeom>
          <a:solidFill>
            <a:srgbClr val="DFECE9"/>
          </a:solidFill>
          <a:ln w="10478">
            <a:solidFill>
              <a:srgbClr val="C5D2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16431" y="2468974"/>
            <a:ext cx="2306933" cy="28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Preprocessing Pipeline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16431" y="2867840"/>
            <a:ext cx="3901068" cy="590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CLAHE enhancement, denoising, and quality control procedures implemented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5922" y="4133016"/>
            <a:ext cx="4291027" cy="1379254"/>
          </a:xfrm>
          <a:prstGeom prst="roundRect">
            <a:avLst>
              <a:gd name="adj" fmla="val 5620"/>
            </a:avLst>
          </a:prstGeom>
          <a:solidFill>
            <a:srgbClr val="DFECE9"/>
          </a:solidFill>
          <a:ln w="10478">
            <a:solidFill>
              <a:srgbClr val="C5D2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0901" y="4327948"/>
            <a:ext cx="2306933" cy="28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Baseline Model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0901" y="4726813"/>
            <a:ext cx="3901068" cy="590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CNN architecture with 2.85M parameters achieving 93.5% test accuracy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121451" y="4133016"/>
            <a:ext cx="4291027" cy="1379254"/>
          </a:xfrm>
          <a:prstGeom prst="roundRect">
            <a:avLst>
              <a:gd name="adj" fmla="val 5620"/>
            </a:avLst>
          </a:prstGeom>
          <a:solidFill>
            <a:srgbClr val="DFECE9"/>
          </a:solidFill>
          <a:ln w="10478">
            <a:solidFill>
              <a:srgbClr val="C5D2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16431" y="4327948"/>
            <a:ext cx="2306933" cy="28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Performance Metrics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16431" y="4726813"/>
            <a:ext cx="3901068" cy="590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95.4% tumor detection recall, 97.23% ROC-AUC, minimal overfitting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5922" y="5812033"/>
            <a:ext cx="2018638" cy="608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50"/>
              </a:lnSpc>
              <a:buNone/>
            </a:pPr>
            <a:r>
              <a:rPr lang="en-US" sz="4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93.5%</a:t>
            </a:r>
            <a:endParaRPr lang="en-US" sz="4750" dirty="0"/>
          </a:p>
        </p:txBody>
      </p:sp>
      <p:sp>
        <p:nvSpPr>
          <p:cNvPr id="17" name="Text 15"/>
          <p:cNvSpPr/>
          <p:nvPr/>
        </p:nvSpPr>
        <p:spPr>
          <a:xfrm>
            <a:off x="645922" y="6651500"/>
            <a:ext cx="2018638" cy="2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Model Accuracy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895228" y="5812033"/>
            <a:ext cx="2018638" cy="608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50"/>
              </a:lnSpc>
              <a:buNone/>
            </a:pPr>
            <a:r>
              <a:rPr lang="en-US" sz="4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95.4%</a:t>
            </a:r>
            <a:endParaRPr lang="en-US" sz="4750" dirty="0"/>
          </a:p>
        </p:txBody>
      </p:sp>
      <p:sp>
        <p:nvSpPr>
          <p:cNvPr id="19" name="Text 17"/>
          <p:cNvSpPr/>
          <p:nvPr/>
        </p:nvSpPr>
        <p:spPr>
          <a:xfrm>
            <a:off x="2895228" y="6651500"/>
            <a:ext cx="2018638" cy="590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Tumor Detection Recall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144534" y="5812033"/>
            <a:ext cx="2018638" cy="608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50"/>
              </a:lnSpc>
              <a:buNone/>
            </a:pPr>
            <a:r>
              <a:rPr lang="en-US" sz="4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97.23%</a:t>
            </a:r>
            <a:endParaRPr lang="en-US" sz="4750" dirty="0"/>
          </a:p>
        </p:txBody>
      </p:sp>
      <p:sp>
        <p:nvSpPr>
          <p:cNvPr id="21" name="Text 19"/>
          <p:cNvSpPr/>
          <p:nvPr/>
        </p:nvSpPr>
        <p:spPr>
          <a:xfrm>
            <a:off x="5144534" y="6651500"/>
            <a:ext cx="2018638" cy="2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ROC-AUC Score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393841" y="5812033"/>
            <a:ext cx="2018638" cy="608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50"/>
              </a:lnSpc>
              <a:buNone/>
            </a:pPr>
            <a:r>
              <a:rPr lang="en-US" sz="4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4,311</a:t>
            </a:r>
            <a:endParaRPr lang="en-US" sz="4750" dirty="0"/>
          </a:p>
        </p:txBody>
      </p:sp>
      <p:sp>
        <p:nvSpPr>
          <p:cNvPr id="23" name="Text 21"/>
          <p:cNvSpPr/>
          <p:nvPr/>
        </p:nvSpPr>
        <p:spPr>
          <a:xfrm>
            <a:off x="7393841" y="6651500"/>
            <a:ext cx="2018638" cy="2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MRI Images Processed</a:t>
            </a:r>
            <a:endParaRPr lang="en-US" sz="1450" dirty="0"/>
          </a:p>
        </p:txBody>
      </p:sp>
      <p:sp>
        <p:nvSpPr>
          <p:cNvPr id="24" name="Rectangle 23"/>
          <p:cNvSpPr/>
          <p:nvPr/>
        </p:nvSpPr>
        <p:spPr>
          <a:xfrm>
            <a:off x="8244348" y="7242024"/>
            <a:ext cx="1681317" cy="42713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193" y="587169"/>
            <a:ext cx="6804645" cy="53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Dataset Collection and Composition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03193" y="1527867"/>
            <a:ext cx="2154518" cy="269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Br35h Dataset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03193" y="1957994"/>
            <a:ext cx="4215802" cy="26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Source: Kaggle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3193" y="2369381"/>
            <a:ext cx="4215802" cy="26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Total images: 3,000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3193" y="2780767"/>
            <a:ext cx="4215802" cy="26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Binary classification (tumor vs. healthy)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3193" y="3192154"/>
            <a:ext cx="4215802" cy="26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1,500 tumor images and 1,500 healthy images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3193" y="3603540"/>
            <a:ext cx="4215802" cy="26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Format: JPEG compressed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3193" y="4014927"/>
            <a:ext cx="4215802" cy="26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Size: ~50 MB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244644" y="1527867"/>
            <a:ext cx="2154518" cy="269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Sartaj Dataset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244644" y="1957994"/>
            <a:ext cx="4215802" cy="26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Source: Kaggle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244644" y="2369381"/>
            <a:ext cx="4215802" cy="26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Total images: 1,311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244644" y="2780767"/>
            <a:ext cx="4215802" cy="26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Multi-class filtered to binary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244644" y="3192154"/>
            <a:ext cx="4215802" cy="26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Format: JPG compressed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44644" y="3603540"/>
            <a:ext cx="4215802" cy="26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Size: ~30 MB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244644" y="4014927"/>
            <a:ext cx="4215802" cy="26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High-quality scans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3193" y="4693424"/>
            <a:ext cx="4325407" cy="568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4,311</a:t>
            </a:r>
            <a:endParaRPr lang="en-US" sz="4450" dirty="0"/>
          </a:p>
        </p:txBody>
      </p:sp>
      <p:sp>
        <p:nvSpPr>
          <p:cNvPr id="18" name="Text 16"/>
          <p:cNvSpPr/>
          <p:nvPr/>
        </p:nvSpPr>
        <p:spPr>
          <a:xfrm>
            <a:off x="603193" y="5468733"/>
            <a:ext cx="4325407" cy="26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Total Images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129800" y="4693424"/>
            <a:ext cx="4325407" cy="568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2.1K</a:t>
            </a:r>
            <a:endParaRPr lang="en-US" sz="4450" dirty="0"/>
          </a:p>
        </p:txBody>
      </p:sp>
      <p:sp>
        <p:nvSpPr>
          <p:cNvPr id="20" name="Text 18"/>
          <p:cNvSpPr/>
          <p:nvPr/>
        </p:nvSpPr>
        <p:spPr>
          <a:xfrm>
            <a:off x="5129800" y="5468733"/>
            <a:ext cx="4325407" cy="26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Tumor Cases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3193" y="6143302"/>
            <a:ext cx="4325407" cy="568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2.1K</a:t>
            </a:r>
            <a:endParaRPr lang="en-US" sz="4450" dirty="0"/>
          </a:p>
        </p:txBody>
      </p:sp>
      <p:sp>
        <p:nvSpPr>
          <p:cNvPr id="22" name="Text 20"/>
          <p:cNvSpPr/>
          <p:nvPr/>
        </p:nvSpPr>
        <p:spPr>
          <a:xfrm>
            <a:off x="603193" y="6918611"/>
            <a:ext cx="4325407" cy="26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Healthy Cases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129800" y="6143302"/>
            <a:ext cx="4325407" cy="568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50%</a:t>
            </a:r>
            <a:endParaRPr lang="en-US" sz="4450" dirty="0"/>
          </a:p>
        </p:txBody>
      </p:sp>
      <p:sp>
        <p:nvSpPr>
          <p:cNvPr id="24" name="Text 22"/>
          <p:cNvSpPr/>
          <p:nvPr/>
        </p:nvSpPr>
        <p:spPr>
          <a:xfrm>
            <a:off x="5129800" y="6918611"/>
            <a:ext cx="4325407" cy="26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Balance</a:t>
            </a:r>
            <a:endParaRPr lang="en-US" sz="1350" dirty="0"/>
          </a:p>
        </p:txBody>
      </p:sp>
      <p:sp>
        <p:nvSpPr>
          <p:cNvPr id="25" name="Rectangle 24"/>
          <p:cNvSpPr/>
          <p:nvPr/>
        </p:nvSpPr>
        <p:spPr>
          <a:xfrm>
            <a:off x="8244348" y="7242024"/>
            <a:ext cx="1681317" cy="42713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44348" y="7242024"/>
            <a:ext cx="1681317" cy="42713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05" y="619432"/>
            <a:ext cx="8979541" cy="662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627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922" y="668923"/>
            <a:ext cx="6705109" cy="576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Advanced Preprocessing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5922" y="1522302"/>
            <a:ext cx="8766557" cy="590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multi-stage preprocessing framework enhances image quality while preserving critical diagnostic features.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22" y="2320361"/>
            <a:ext cx="4383278" cy="7379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0424" y="3242810"/>
            <a:ext cx="2306933" cy="28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CLAHE Enhancement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30424" y="3641676"/>
            <a:ext cx="4014274" cy="118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Contrast Limited Adaptive Histogram Equalization improves visibility in low-contrast regions while preventing noise amplification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320361"/>
            <a:ext cx="4383278" cy="7379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3702" y="3242810"/>
            <a:ext cx="2306933" cy="28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Noise Reduction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213702" y="3641676"/>
            <a:ext cx="4014274" cy="885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Fast Non-Local Means Denoising removes artifacts while preserving 95%+ edge information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922" y="5007181"/>
            <a:ext cx="4383278" cy="7379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0424" y="5929630"/>
            <a:ext cx="2306933" cy="28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Resizing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830424" y="6328496"/>
            <a:ext cx="4014274" cy="590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High-quality LANCZOS4 interpolation scales images to 150×150 pixels uniform dimensions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5007181"/>
            <a:ext cx="4383278" cy="7379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13702" y="5929630"/>
            <a:ext cx="2306933" cy="28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Normalization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5213702" y="6328496"/>
            <a:ext cx="4014274" cy="590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Values scaled to [0,1] range for neural network compatibility</a:t>
            </a:r>
            <a:endParaRPr lang="en-US" sz="1450" dirty="0"/>
          </a:p>
        </p:txBody>
      </p:sp>
      <p:sp>
        <p:nvSpPr>
          <p:cNvPr id="18" name="Rectangle 17"/>
          <p:cNvSpPr/>
          <p:nvPr/>
        </p:nvSpPr>
        <p:spPr>
          <a:xfrm>
            <a:off x="8244348" y="7242024"/>
            <a:ext cx="1681317" cy="42713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4830" y="665240"/>
            <a:ext cx="45719" cy="379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Baseline CNN Architecture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4830" y="1076463"/>
            <a:ext cx="9208740" cy="379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baseline model employs four convolutional blocks with progressive dropout rates, establishing a foundation for Method-1. Total parameters: 2,847,714 trainable weights.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24830" y="1575413"/>
            <a:ext cx="121392" cy="728171"/>
          </a:xfrm>
          <a:prstGeom prst="roundRect">
            <a:avLst>
              <a:gd name="adj" fmla="val 42004"/>
            </a:avLst>
          </a:prstGeom>
          <a:solidFill>
            <a:srgbClr val="DFECE9"/>
          </a:solidFill>
          <a:ln w="5239">
            <a:solidFill>
              <a:srgbClr val="C5D2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6031" y="1696775"/>
            <a:ext cx="1517519" cy="189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Conv Block 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6031" y="1934262"/>
            <a:ext cx="9007539" cy="16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32 filters, 3×3 kernel, ReLU, MaxPooling2D(2×2), Dropout(0.25)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06876" y="2383375"/>
            <a:ext cx="121392" cy="728171"/>
          </a:xfrm>
          <a:prstGeom prst="roundRect">
            <a:avLst>
              <a:gd name="adj" fmla="val 42004"/>
            </a:avLst>
          </a:prstGeom>
          <a:solidFill>
            <a:srgbClr val="DFECE9"/>
          </a:solidFill>
          <a:ln w="5239">
            <a:solidFill>
              <a:srgbClr val="C5D2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8077" y="2504736"/>
            <a:ext cx="1517519" cy="189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Conv Block 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8077" y="2742223"/>
            <a:ext cx="8825493" cy="16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64 filters, 3×3 kernel, ReLU, MaxPooling2D(2×2), Dropout(0.25)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89005" y="3191336"/>
            <a:ext cx="121392" cy="728171"/>
          </a:xfrm>
          <a:prstGeom prst="roundRect">
            <a:avLst>
              <a:gd name="adj" fmla="val 42004"/>
            </a:avLst>
          </a:prstGeom>
          <a:solidFill>
            <a:srgbClr val="DFECE9"/>
          </a:solidFill>
          <a:ln w="5239">
            <a:solidFill>
              <a:srgbClr val="C5D2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206" y="3312697"/>
            <a:ext cx="1517519" cy="189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Conv Block 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90206" y="3550184"/>
            <a:ext cx="8643365" cy="16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128 filters, 3×3 kernel, ReLU, MaxPooling2D(2×2), Dropout(0.3)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1133" y="3999297"/>
            <a:ext cx="121392" cy="728171"/>
          </a:xfrm>
          <a:prstGeom prst="roundRect">
            <a:avLst>
              <a:gd name="adj" fmla="val 42004"/>
            </a:avLst>
          </a:prstGeom>
          <a:solidFill>
            <a:srgbClr val="DFECE9"/>
          </a:solidFill>
          <a:ln w="5239">
            <a:solidFill>
              <a:srgbClr val="C5D2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2334" y="4120658"/>
            <a:ext cx="1517519" cy="189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Conv Block 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72334" y="4358145"/>
            <a:ext cx="8461236" cy="16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256 filters, 3×3 kernel, ReLU, MaxPooling2D(2×2), Dropout(0.3)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89005" y="4807258"/>
            <a:ext cx="121392" cy="728171"/>
          </a:xfrm>
          <a:prstGeom prst="roundRect">
            <a:avLst>
              <a:gd name="adj" fmla="val 42004"/>
            </a:avLst>
          </a:prstGeom>
          <a:solidFill>
            <a:srgbClr val="DFECE9"/>
          </a:solidFill>
          <a:ln w="5239">
            <a:solidFill>
              <a:srgbClr val="C5D2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0206" y="4928619"/>
            <a:ext cx="1517519" cy="189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Flatten &amp; Dense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90206" y="5166106"/>
            <a:ext cx="8643365" cy="16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Flatten layer, Dense(512, ReLU), Dropout(0.5), Dense(2, Softmax)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4830" y="5704992"/>
            <a:ext cx="1517519" cy="189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Training Configuration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4830" y="5974394"/>
            <a:ext cx="4456294" cy="91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Optimizer: Adam (LR=0.001)</a:t>
            </a:r>
            <a:endParaRPr lang="en-US" sz="9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Loss: Categorical Crossentropy</a:t>
            </a:r>
            <a:endParaRPr lang="en-US" sz="9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Batch Size: 32</a:t>
            </a:r>
            <a:endParaRPr lang="en-US" sz="9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Epochs: 30 (early stopping)</a:t>
            </a:r>
            <a:endParaRPr lang="en-US" sz="9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Callbacks: EarlyStopping, ModelCheckpoint, ReduceLROnPlateau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82515" y="5704992"/>
            <a:ext cx="1517519" cy="189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Augmentation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182515" y="5974394"/>
            <a:ext cx="4456294" cy="1104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Rotation: ±20 degrees</a:t>
            </a:r>
            <a:endParaRPr lang="en-US" sz="9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Translation: ±15%</a:t>
            </a:r>
            <a:endParaRPr lang="en-US" sz="9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Shear: ±15%</a:t>
            </a:r>
            <a:endParaRPr lang="en-US" sz="9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Zoom: 85-115%</a:t>
            </a:r>
            <a:endParaRPr lang="en-US" sz="9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Flip: Horizontal/Vertical</a:t>
            </a:r>
            <a:endParaRPr lang="en-US" sz="9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Effective size: ~9,000 images</a:t>
            </a:r>
            <a:endParaRPr lang="en-US" sz="950" dirty="0"/>
          </a:p>
        </p:txBody>
      </p:sp>
      <p:sp>
        <p:nvSpPr>
          <p:cNvPr id="23" name="Rectangle 22"/>
          <p:cNvSpPr/>
          <p:nvPr/>
        </p:nvSpPr>
        <p:spPr>
          <a:xfrm>
            <a:off x="8244348" y="7242024"/>
            <a:ext cx="1681317" cy="42713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44348" y="7242024"/>
            <a:ext cx="1681317" cy="42713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693175" y="769514"/>
            <a:ext cx="92324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272D45"/>
                </a:solidFill>
                <a:latin typeface="Bahnschrift SemiBold" panose="020B0502040204020203" pitchFamily="34" charset="0"/>
                <a:ea typeface="Kanit Light" pitchFamily="34" charset="-122"/>
                <a:cs typeface="Kanit Light" pitchFamily="34" charset="-120"/>
              </a:rPr>
              <a:t>Baseline CNN Architecture</a:t>
            </a:r>
            <a:endParaRPr lang="en-US" sz="2800" dirty="0" smtClean="0">
              <a:latin typeface="Bahnschrift SemiBold" panose="020B0502040204020203" pitchFamily="34" charset="0"/>
            </a:endParaRP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83" y="1569733"/>
            <a:ext cx="9077808" cy="509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8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1146" y="1123600"/>
            <a:ext cx="4505980" cy="37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Training Process and Convergence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556453" y="1617068"/>
            <a:ext cx="15716" cy="3035685"/>
          </a:xfrm>
          <a:prstGeom prst="roundRect">
            <a:avLst>
              <a:gd name="adj" fmla="val 321589"/>
            </a:avLst>
          </a:prstGeom>
          <a:solidFill>
            <a:srgbClr val="C5D2CF"/>
          </a:solidFill>
          <a:ln/>
        </p:spPr>
      </p:sp>
      <p:sp>
        <p:nvSpPr>
          <p:cNvPr id="4" name="Shape 2"/>
          <p:cNvSpPr/>
          <p:nvPr/>
        </p:nvSpPr>
        <p:spPr>
          <a:xfrm>
            <a:off x="676085" y="1744485"/>
            <a:ext cx="360983" cy="15712"/>
          </a:xfrm>
          <a:prstGeom prst="roundRect">
            <a:avLst>
              <a:gd name="adj" fmla="val 321671"/>
            </a:avLst>
          </a:prstGeom>
          <a:solidFill>
            <a:srgbClr val="C5D2CF"/>
          </a:solidFill>
          <a:ln/>
        </p:spPr>
      </p:sp>
      <p:sp>
        <p:nvSpPr>
          <p:cNvPr id="5" name="Shape 3"/>
          <p:cNvSpPr/>
          <p:nvPr/>
        </p:nvSpPr>
        <p:spPr>
          <a:xfrm>
            <a:off x="421105" y="1617068"/>
            <a:ext cx="270696" cy="270630"/>
          </a:xfrm>
          <a:prstGeom prst="roundRect">
            <a:avLst>
              <a:gd name="adj" fmla="val 18675"/>
            </a:avLst>
          </a:prstGeom>
          <a:solidFill>
            <a:srgbClr val="DFECE9"/>
          </a:solidFill>
          <a:ln w="5239">
            <a:solidFill>
              <a:srgbClr val="C5D2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167" y="1639572"/>
            <a:ext cx="180491" cy="225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8173" y="1658395"/>
            <a:ext cx="1504176" cy="187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Epochs 1-10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58173" y="1893426"/>
            <a:ext cx="8479081" cy="158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Learning Rate: 0.001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8173" y="2099406"/>
            <a:ext cx="8479081" cy="158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Rapid improvement in accuracy from 78% to 92%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76085" y="2542626"/>
            <a:ext cx="360983" cy="15712"/>
          </a:xfrm>
          <a:prstGeom prst="roundRect">
            <a:avLst>
              <a:gd name="adj" fmla="val 321671"/>
            </a:avLst>
          </a:prstGeom>
          <a:solidFill>
            <a:srgbClr val="C5D2CF"/>
          </a:solidFill>
          <a:ln/>
        </p:spPr>
      </p:sp>
      <p:sp>
        <p:nvSpPr>
          <p:cNvPr id="11" name="Shape 9"/>
          <p:cNvSpPr/>
          <p:nvPr/>
        </p:nvSpPr>
        <p:spPr>
          <a:xfrm>
            <a:off x="421105" y="2415208"/>
            <a:ext cx="270696" cy="270630"/>
          </a:xfrm>
          <a:prstGeom prst="roundRect">
            <a:avLst>
              <a:gd name="adj" fmla="val 18675"/>
            </a:avLst>
          </a:prstGeom>
          <a:solidFill>
            <a:srgbClr val="DFECE9"/>
          </a:solidFill>
          <a:ln w="5239">
            <a:solidFill>
              <a:srgbClr val="C5D2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167" y="2437713"/>
            <a:ext cx="180491" cy="225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58173" y="2456535"/>
            <a:ext cx="1504176" cy="187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Epochs 11-15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58173" y="2691567"/>
            <a:ext cx="8479081" cy="158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LR Reduced to 0.0005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8173" y="2897546"/>
            <a:ext cx="8479081" cy="158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Slower convergence, validation accuracy reaches 94%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085" y="3340767"/>
            <a:ext cx="360983" cy="15712"/>
          </a:xfrm>
          <a:prstGeom prst="roundRect">
            <a:avLst>
              <a:gd name="adj" fmla="val 321671"/>
            </a:avLst>
          </a:prstGeom>
          <a:solidFill>
            <a:srgbClr val="C5D2CF"/>
          </a:solidFill>
          <a:ln/>
        </p:spPr>
      </p:sp>
      <p:sp>
        <p:nvSpPr>
          <p:cNvPr id="17" name="Shape 15"/>
          <p:cNvSpPr/>
          <p:nvPr/>
        </p:nvSpPr>
        <p:spPr>
          <a:xfrm>
            <a:off x="421105" y="3213349"/>
            <a:ext cx="270696" cy="270630"/>
          </a:xfrm>
          <a:prstGeom prst="roundRect">
            <a:avLst>
              <a:gd name="adj" fmla="val 18675"/>
            </a:avLst>
          </a:prstGeom>
          <a:solidFill>
            <a:srgbClr val="DFECE9"/>
          </a:solidFill>
          <a:ln w="5239">
            <a:solidFill>
              <a:srgbClr val="C5D2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167" y="3235854"/>
            <a:ext cx="180491" cy="225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8173" y="3254676"/>
            <a:ext cx="1504176" cy="187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Epochs 16-20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8173" y="3489707"/>
            <a:ext cx="8479081" cy="158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LR Reduced to 0.00025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8173" y="3695687"/>
            <a:ext cx="8479081" cy="158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Plateau near optimal performance at 95%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085" y="4138908"/>
            <a:ext cx="360983" cy="15712"/>
          </a:xfrm>
          <a:prstGeom prst="roundRect">
            <a:avLst>
              <a:gd name="adj" fmla="val 321671"/>
            </a:avLst>
          </a:prstGeom>
          <a:solidFill>
            <a:srgbClr val="C5D2CF"/>
          </a:solidFill>
          <a:ln/>
        </p:spPr>
      </p:sp>
      <p:sp>
        <p:nvSpPr>
          <p:cNvPr id="23" name="Shape 21"/>
          <p:cNvSpPr/>
          <p:nvPr/>
        </p:nvSpPr>
        <p:spPr>
          <a:xfrm>
            <a:off x="421105" y="4011490"/>
            <a:ext cx="270696" cy="270630"/>
          </a:xfrm>
          <a:prstGeom prst="roundRect">
            <a:avLst>
              <a:gd name="adj" fmla="val 18675"/>
            </a:avLst>
          </a:prstGeom>
          <a:solidFill>
            <a:srgbClr val="DFECE9"/>
          </a:solidFill>
          <a:ln w="5239">
            <a:solidFill>
              <a:srgbClr val="C5D2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167" y="4033995"/>
            <a:ext cx="180491" cy="225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58173" y="4052817"/>
            <a:ext cx="1504176" cy="187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Epochs 21-23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8173" y="4287848"/>
            <a:ext cx="8479081" cy="158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LR Reduced to 0.000125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8173" y="4493828"/>
            <a:ext cx="8479081" cy="158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Early stopping triggered, best model at epoch 19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1146" y="4819369"/>
            <a:ext cx="1504176" cy="187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Training Metrics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21146" y="5085743"/>
            <a:ext cx="2875992" cy="158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Accuracy: 97.23%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1146" y="5315210"/>
            <a:ext cx="2875992" cy="158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Loss: 0.0756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1146" y="5544676"/>
            <a:ext cx="2875992" cy="158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Precision: 96.8%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1146" y="5774143"/>
            <a:ext cx="2875992" cy="158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Recall: 97.1%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95911" y="4819369"/>
            <a:ext cx="1504176" cy="187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Validation Metrics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595911" y="5085743"/>
            <a:ext cx="2875992" cy="158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Accuracy: 95.05%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95911" y="5315210"/>
            <a:ext cx="2875992" cy="158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Loss: 0.1145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95911" y="5544676"/>
            <a:ext cx="2875992" cy="158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Precision: 94.7%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95911" y="5774143"/>
            <a:ext cx="2875992" cy="158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Recall: 94.9%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70675" y="4819369"/>
            <a:ext cx="1504176" cy="187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Computational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770675" y="5085743"/>
            <a:ext cx="2875992" cy="158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Time: 42 min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70675" y="5315210"/>
            <a:ext cx="2875992" cy="158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GPU: Tesla T4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70675" y="5544676"/>
            <a:ext cx="2875992" cy="158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Per Epoch: 2.2 min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70675" y="5774143"/>
            <a:ext cx="2875992" cy="158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23 images/sec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1146" y="6091828"/>
            <a:ext cx="9216107" cy="556972"/>
          </a:xfrm>
          <a:prstGeom prst="roundRect">
            <a:avLst>
              <a:gd name="adj" fmla="val 9074"/>
            </a:avLst>
          </a:prstGeom>
          <a:solidFill>
            <a:srgbClr val="CFE2DE"/>
          </a:solidFill>
          <a:ln/>
        </p:spPr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74" y="6242160"/>
            <a:ext cx="150368" cy="120298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812170" y="6200260"/>
            <a:ext cx="8704756" cy="317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Convergence Analysis: Model converged at epoch 19 with 2.18% training-validation gap, indicating acceptable generalization. Early stopping prevented overfitting while maintaining optimal weights.</a:t>
            </a:r>
            <a:endParaRPr lang="en-US" sz="900" dirty="0"/>
          </a:p>
        </p:txBody>
      </p:sp>
      <p:sp>
        <p:nvSpPr>
          <p:cNvPr id="46" name="Rectangle 45"/>
          <p:cNvSpPr/>
          <p:nvPr/>
        </p:nvSpPr>
        <p:spPr>
          <a:xfrm>
            <a:off x="8274851" y="7242024"/>
            <a:ext cx="1681317" cy="42713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65" y="446071"/>
            <a:ext cx="9377603" cy="700952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74851" y="7242024"/>
            <a:ext cx="1681317" cy="42713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893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213" y="1063533"/>
            <a:ext cx="4423224" cy="41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Test Set Performance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8213" y="1742194"/>
            <a:ext cx="2189552" cy="44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3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93.5%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468213" y="2323144"/>
            <a:ext cx="2189552" cy="369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Overall Accuracy (Exceeds 90% target)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78993" y="1742194"/>
            <a:ext cx="2189552" cy="44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3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95.4%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2778993" y="2323144"/>
            <a:ext cx="2189552" cy="18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Tumor Recall (Sensitivity rate)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89773" y="1742194"/>
            <a:ext cx="2189552" cy="44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3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97.2%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5089773" y="2323144"/>
            <a:ext cx="2189552" cy="18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ROC-AUC (Discriminative power)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00553" y="1742194"/>
            <a:ext cx="2189634" cy="44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3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646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7400553" y="2323144"/>
            <a:ext cx="2189634" cy="369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Test Samples (Independent evaluation set)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8213" y="2801472"/>
            <a:ext cx="4512528" cy="1700458"/>
          </a:xfrm>
          <a:prstGeom prst="roundRect">
            <a:avLst>
              <a:gd name="adj" fmla="val 3305"/>
            </a:avLst>
          </a:prstGeom>
          <a:solidFill>
            <a:srgbClr val="DFECE9"/>
          </a:solidFill>
          <a:ln w="5239">
            <a:solidFill>
              <a:srgbClr val="C5D2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88242" y="2940428"/>
            <a:ext cx="1672389" cy="208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Tumor Class (0)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7204" y="3207457"/>
            <a:ext cx="4234547" cy="18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Precision: 91.8%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7204" y="3450181"/>
            <a:ext cx="4234547" cy="18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Recall: 95.4%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7204" y="3692905"/>
            <a:ext cx="4234547" cy="18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F1-Score: 93.6%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7204" y="3935629"/>
            <a:ext cx="4234547" cy="18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308 correctly identified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7204" y="4178352"/>
            <a:ext cx="4234547" cy="18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15 missed (false negatives)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77658" y="2801472"/>
            <a:ext cx="4512528" cy="1700458"/>
          </a:xfrm>
          <a:prstGeom prst="roundRect">
            <a:avLst>
              <a:gd name="adj" fmla="val 3305"/>
            </a:avLst>
          </a:prstGeom>
          <a:solidFill>
            <a:srgbClr val="DFECE9"/>
          </a:solidFill>
          <a:ln w="5239">
            <a:solidFill>
              <a:srgbClr val="C5D2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7687" y="2940428"/>
            <a:ext cx="1672389" cy="208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Healthy Class (1)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6649" y="3207457"/>
            <a:ext cx="4234547" cy="18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Precision: 94.5%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16649" y="3450181"/>
            <a:ext cx="4234547" cy="18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Recall: 91.0%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16649" y="3692905"/>
            <a:ext cx="4234547" cy="18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F1-Score: 92.7%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16649" y="3935629"/>
            <a:ext cx="4234547" cy="18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295 correctly identified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16649" y="4178352"/>
            <a:ext cx="4234547" cy="18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28 false alarms (false positives)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8213" y="4647351"/>
            <a:ext cx="1672389" cy="208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Confusion Matrix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213" y="5001698"/>
            <a:ext cx="9121973" cy="944381"/>
          </a:xfrm>
          <a:prstGeom prst="roundRect">
            <a:avLst>
              <a:gd name="adj" fmla="val 5950"/>
            </a:avLst>
          </a:prstGeom>
          <a:noFill/>
          <a:ln w="5239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452" y="5006936"/>
            <a:ext cx="9111496" cy="3113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07286" y="5070277"/>
            <a:ext cx="2463277" cy="18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43305" y="5070277"/>
            <a:ext cx="2916265" cy="18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Predicted: Tumor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32312" y="5070277"/>
            <a:ext cx="2918884" cy="18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Predicted: Healthy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3452" y="5318238"/>
            <a:ext cx="9111496" cy="3113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07286" y="5381578"/>
            <a:ext cx="2463277" cy="18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Actual: Tumor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43305" y="5381578"/>
            <a:ext cx="2916265" cy="18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308 (95.4%)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32312" y="5381578"/>
            <a:ext cx="2918884" cy="18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15 (4.6%)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3452" y="5629540"/>
            <a:ext cx="9111496" cy="3113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07286" y="5692880"/>
            <a:ext cx="2463277" cy="18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Actual: Healthy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43305" y="5692880"/>
            <a:ext cx="2916265" cy="18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28 (8.7%)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532312" y="5692880"/>
            <a:ext cx="2918884" cy="18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295 (91.3%)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8213" y="6055166"/>
            <a:ext cx="9121973" cy="653619"/>
          </a:xfrm>
          <a:prstGeom prst="roundRect">
            <a:avLst>
              <a:gd name="adj" fmla="val 8598"/>
            </a:avLst>
          </a:prstGeom>
          <a:solidFill>
            <a:srgbClr val="CFE2DE"/>
          </a:solidFill>
          <a:ln/>
        </p:spPr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65" y="6225711"/>
            <a:ext cx="167231" cy="133719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902948" y="6185448"/>
            <a:ext cx="8553487" cy="369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Clinical Significance: 95.4% sensitivity ensures most tumors are detected (better safe than sorry). 91.3% specificity indicates healthy cases are correctly identified. Small class imbalance gap (4.1%) shows balanced performance.</a:t>
            </a:r>
            <a:endParaRPr lang="en-US" sz="1050" dirty="0"/>
          </a:p>
        </p:txBody>
      </p:sp>
      <p:sp>
        <p:nvSpPr>
          <p:cNvPr id="42" name="Rectangle 41"/>
          <p:cNvSpPr/>
          <p:nvPr/>
        </p:nvSpPr>
        <p:spPr>
          <a:xfrm>
            <a:off x="8244348" y="7242024"/>
            <a:ext cx="1681317" cy="42713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741" y="710577"/>
            <a:ext cx="6738915" cy="54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Error Analysis and Lessons Learned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741" y="1665842"/>
            <a:ext cx="2421039" cy="272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False Negatives (15 cases)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09741" y="2102434"/>
            <a:ext cx="4206962" cy="270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Common Patterns: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741" y="2521185"/>
            <a:ext cx="4206962" cy="1739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Small tumors: 8 cases (53%) - tumors &lt;15% brain area, low contrast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Low contrast: 5 cases (33%) - poor image quality, inadequate CLAHE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Unusual locations: 2 cases (13%) - brainstem region, atypical presentation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246936" y="1665842"/>
            <a:ext cx="2395746" cy="272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False Positives (28 cases)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246936" y="2102434"/>
            <a:ext cx="4206962" cy="270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Common Patterns: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246936" y="2521185"/>
            <a:ext cx="4206962" cy="1739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Image artifacts: 12 cases (43%) - motion blur, scanner noise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Ventricular issues: 9 cases (32%) - enlarged ventricles confused with tumors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Calcifications: 7 cases (25%) - benign calcifications appearing as tumors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741" y="4503485"/>
            <a:ext cx="4337194" cy="2558339"/>
          </a:xfrm>
          <a:prstGeom prst="roundRect">
            <a:avLst>
              <a:gd name="adj" fmla="val 2860"/>
            </a:avLst>
          </a:prstGeom>
          <a:solidFill>
            <a:srgbClr val="FFFFFF"/>
          </a:solidFill>
          <a:ln w="20955">
            <a:solidFill>
              <a:srgbClr val="C5D2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89415" y="4698580"/>
            <a:ext cx="2177765" cy="272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✓ What Worked Well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4885" y="5069376"/>
            <a:ext cx="3946907" cy="1797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CLAHE preprocessing improved contrast 40-55%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 augmentation reduced overfitting ~10%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Progressive dropout rates effective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Adam optimizer with LR scheduling optimal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111383" y="4503485"/>
            <a:ext cx="4337276" cy="2558339"/>
          </a:xfrm>
          <a:prstGeom prst="roundRect">
            <a:avLst>
              <a:gd name="adj" fmla="val 2860"/>
            </a:avLst>
          </a:prstGeom>
          <a:solidFill>
            <a:srgbClr val="FFFFFF"/>
          </a:solidFill>
          <a:ln w="20955">
            <a:solidFill>
              <a:srgbClr val="C5D2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23089" y="4698580"/>
            <a:ext cx="2513863" cy="272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⚠</a:t>
            </a: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Areas for Improvement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06526" y="5069376"/>
            <a:ext cx="3946989" cy="152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Small tumor detection needs enhancement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Artifact handling requires better preprocessing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Edge case robustness lacking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Confidence calibration for borderline cases</a:t>
            </a:r>
            <a:endParaRPr lang="en-US" sz="1350" dirty="0"/>
          </a:p>
        </p:txBody>
      </p:sp>
      <p:sp>
        <p:nvSpPr>
          <p:cNvPr id="15" name="Rectangle 14"/>
          <p:cNvSpPr/>
          <p:nvPr/>
        </p:nvSpPr>
        <p:spPr>
          <a:xfrm>
            <a:off x="8244348" y="7242024"/>
            <a:ext cx="1681317" cy="42713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996" y="828747"/>
            <a:ext cx="5757714" cy="47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Comparison with Existing Methods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530996" y="1627952"/>
            <a:ext cx="3966061" cy="189613"/>
          </a:xfrm>
          <a:prstGeom prst="roundRect">
            <a:avLst>
              <a:gd name="adj" fmla="val 33610"/>
            </a:avLst>
          </a:prstGeom>
          <a:solidFill>
            <a:srgbClr val="DFECE9"/>
          </a:solidFill>
          <a:ln w="5239">
            <a:solidFill>
              <a:srgbClr val="C5D2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996" y="1627952"/>
            <a:ext cx="3450454" cy="189613"/>
          </a:xfrm>
          <a:prstGeom prst="roundRect">
            <a:avLst>
              <a:gd name="adj" fmla="val 33610"/>
            </a:avLst>
          </a:prstGeom>
          <a:solidFill>
            <a:srgbClr val="437066"/>
          </a:solidFill>
          <a:ln/>
        </p:spPr>
      </p:sp>
      <p:sp>
        <p:nvSpPr>
          <p:cNvPr id="5" name="Text 3"/>
          <p:cNvSpPr/>
          <p:nvPr/>
        </p:nvSpPr>
        <p:spPr>
          <a:xfrm>
            <a:off x="4610837" y="1627952"/>
            <a:ext cx="340355" cy="189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87%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30996" y="1986882"/>
            <a:ext cx="4420195" cy="22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Traditional SVM (2019)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07126" y="1627952"/>
            <a:ext cx="3940768" cy="189613"/>
          </a:xfrm>
          <a:prstGeom prst="roundRect">
            <a:avLst>
              <a:gd name="adj" fmla="val 33610"/>
            </a:avLst>
          </a:prstGeom>
          <a:solidFill>
            <a:srgbClr val="DFECE9"/>
          </a:solidFill>
          <a:ln w="5239">
            <a:solidFill>
              <a:srgbClr val="C5D2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07126" y="1627952"/>
            <a:ext cx="3546634" cy="189613"/>
          </a:xfrm>
          <a:prstGeom prst="roundRect">
            <a:avLst>
              <a:gd name="adj" fmla="val 33610"/>
            </a:avLst>
          </a:prstGeom>
          <a:solidFill>
            <a:srgbClr val="437066"/>
          </a:solidFill>
          <a:ln/>
        </p:spPr>
      </p:sp>
      <p:sp>
        <p:nvSpPr>
          <p:cNvPr id="9" name="Text 7"/>
          <p:cNvSpPr/>
          <p:nvPr/>
        </p:nvSpPr>
        <p:spPr>
          <a:xfrm>
            <a:off x="9161673" y="1627952"/>
            <a:ext cx="365730" cy="189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90%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107126" y="1986882"/>
            <a:ext cx="4420277" cy="22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Basic CNN (2020)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0996" y="2533215"/>
            <a:ext cx="3965897" cy="189613"/>
          </a:xfrm>
          <a:prstGeom prst="roundRect">
            <a:avLst>
              <a:gd name="adj" fmla="val 33610"/>
            </a:avLst>
          </a:prstGeom>
          <a:solidFill>
            <a:srgbClr val="DFECE9"/>
          </a:solidFill>
          <a:ln w="5239">
            <a:solidFill>
              <a:srgbClr val="C5D2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996" y="2533215"/>
            <a:ext cx="3688244" cy="189613"/>
          </a:xfrm>
          <a:prstGeom prst="roundRect">
            <a:avLst>
              <a:gd name="adj" fmla="val 33610"/>
            </a:avLst>
          </a:prstGeom>
          <a:solidFill>
            <a:srgbClr val="437066"/>
          </a:solidFill>
          <a:ln/>
        </p:spPr>
      </p:sp>
      <p:sp>
        <p:nvSpPr>
          <p:cNvPr id="13" name="Text 11"/>
          <p:cNvSpPr/>
          <p:nvPr/>
        </p:nvSpPr>
        <p:spPr>
          <a:xfrm>
            <a:off x="4610673" y="2533215"/>
            <a:ext cx="340519" cy="189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93%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30996" y="2892145"/>
            <a:ext cx="4420195" cy="22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VGG16 Transfer (2021)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07126" y="2533215"/>
            <a:ext cx="3960822" cy="189613"/>
          </a:xfrm>
          <a:prstGeom prst="roundRect">
            <a:avLst>
              <a:gd name="adj" fmla="val 33610"/>
            </a:avLst>
          </a:prstGeom>
          <a:solidFill>
            <a:srgbClr val="DFECE9"/>
          </a:solidFill>
          <a:ln w="5239">
            <a:solidFill>
              <a:srgbClr val="C5D2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07126" y="2533215"/>
            <a:ext cx="3723114" cy="189613"/>
          </a:xfrm>
          <a:prstGeom prst="roundRect">
            <a:avLst>
              <a:gd name="adj" fmla="val 33610"/>
            </a:avLst>
          </a:prstGeom>
          <a:solidFill>
            <a:srgbClr val="437066"/>
          </a:solidFill>
          <a:ln/>
        </p:spPr>
      </p:sp>
      <p:sp>
        <p:nvSpPr>
          <p:cNvPr id="17" name="Text 15"/>
          <p:cNvSpPr/>
          <p:nvPr/>
        </p:nvSpPr>
        <p:spPr>
          <a:xfrm>
            <a:off x="9181728" y="2533215"/>
            <a:ext cx="345676" cy="189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94%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107126" y="2892145"/>
            <a:ext cx="4420277" cy="22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ResNet Transfer (2022)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819020" y="3438478"/>
            <a:ext cx="3835911" cy="189613"/>
          </a:xfrm>
          <a:prstGeom prst="roundRect">
            <a:avLst>
              <a:gd name="adj" fmla="val 33610"/>
            </a:avLst>
          </a:prstGeom>
          <a:solidFill>
            <a:srgbClr val="DFECE9"/>
          </a:solidFill>
          <a:ln w="5239">
            <a:solidFill>
              <a:srgbClr val="C5D2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19020" y="3438478"/>
            <a:ext cx="3586497" cy="189613"/>
          </a:xfrm>
          <a:prstGeom prst="roundRect">
            <a:avLst>
              <a:gd name="adj" fmla="val 33610"/>
            </a:avLst>
          </a:prstGeom>
          <a:solidFill>
            <a:srgbClr val="437066"/>
          </a:solidFill>
          <a:ln/>
        </p:spPr>
      </p:sp>
      <p:sp>
        <p:nvSpPr>
          <p:cNvPr id="21" name="Text 19"/>
          <p:cNvSpPr/>
          <p:nvPr/>
        </p:nvSpPr>
        <p:spPr>
          <a:xfrm>
            <a:off x="6768711" y="3438478"/>
            <a:ext cx="470587" cy="189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93.5%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2819020" y="3797409"/>
            <a:ext cx="4420277" cy="22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Our Baseline (2026)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0996" y="4205604"/>
            <a:ext cx="3394956" cy="23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Positioning and Competitive Advantages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30996" y="4629675"/>
            <a:ext cx="8996407" cy="663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Our baseline model achieves competitive accuracy (93.5%) compared to transfer learning approaches (92-95%) while offering distinct advantages: no dependency on ImageNet pre-training, smaller model size (11.2 MB vs. 90+ MB for VGG16/ResNet), and medical domain-specific training from scratch.</a:t>
            </a:r>
            <a:endParaRPr lang="en-US" sz="11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996" y="5433298"/>
            <a:ext cx="379318" cy="379225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30996" y="5968420"/>
            <a:ext cx="1896673" cy="23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Fast Inference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530996" y="6280213"/>
            <a:ext cx="2894819" cy="442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26 ms per image on GPU, enabling real-time screening applications</a:t>
            </a:r>
            <a:endParaRPr lang="en-US" sz="115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1750" y="5433298"/>
            <a:ext cx="379318" cy="379225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581750" y="5968420"/>
            <a:ext cx="1896673" cy="23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Efficient Architecture</a:t>
            </a:r>
            <a:endParaRPr lang="en-US" sz="1450" dirty="0"/>
          </a:p>
        </p:txBody>
      </p:sp>
      <p:sp>
        <p:nvSpPr>
          <p:cNvPr id="30" name="Text 26"/>
          <p:cNvSpPr/>
          <p:nvPr/>
        </p:nvSpPr>
        <p:spPr>
          <a:xfrm>
            <a:off x="3581750" y="6280213"/>
            <a:ext cx="2894819" cy="663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2.85M parameters optimized for medical imaging, balancing accuracy and complexity</a:t>
            </a:r>
            <a:endParaRPr lang="en-US" sz="115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32503" y="5433298"/>
            <a:ext cx="379318" cy="379225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632503" y="5968420"/>
            <a:ext cx="1896673" cy="23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Domain-Specific</a:t>
            </a:r>
            <a:endParaRPr lang="en-US" sz="1450" dirty="0"/>
          </a:p>
        </p:txBody>
      </p:sp>
      <p:sp>
        <p:nvSpPr>
          <p:cNvPr id="33" name="Text 28"/>
          <p:cNvSpPr/>
          <p:nvPr/>
        </p:nvSpPr>
        <p:spPr>
          <a:xfrm>
            <a:off x="6632503" y="6280213"/>
            <a:ext cx="2894819" cy="663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Trained exclusively on MRI scans, no transfer learning bias from natural images</a:t>
            </a:r>
            <a:endParaRPr lang="en-US" sz="1150" dirty="0"/>
          </a:p>
        </p:txBody>
      </p:sp>
      <p:sp>
        <p:nvSpPr>
          <p:cNvPr id="34" name="Rectangle 33"/>
          <p:cNvSpPr/>
          <p:nvPr/>
        </p:nvSpPr>
        <p:spPr>
          <a:xfrm>
            <a:off x="8244348" y="7242024"/>
            <a:ext cx="1681317" cy="42713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283" y="1098559"/>
            <a:ext cx="3525679" cy="34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3 Roadmap: Next Steps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283" y="1567394"/>
            <a:ext cx="108868" cy="13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1283" y="1736711"/>
            <a:ext cx="4615748" cy="15712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5" name="Text 3"/>
          <p:cNvSpPr/>
          <p:nvPr/>
        </p:nvSpPr>
        <p:spPr>
          <a:xfrm>
            <a:off x="381283" y="1822556"/>
            <a:ext cx="1634654" cy="170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CNN-LSTM Implementation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283" y="2031319"/>
            <a:ext cx="4615748" cy="277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Integrate LSTM layers for sequential modeling, add attention mechanisms, implement batch normalization and skip connections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61287" y="1567394"/>
            <a:ext cx="108868" cy="13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61287" y="1736711"/>
            <a:ext cx="4615830" cy="15712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9" name="Text 7"/>
          <p:cNvSpPr/>
          <p:nvPr/>
        </p:nvSpPr>
        <p:spPr>
          <a:xfrm>
            <a:off x="5061287" y="1822556"/>
            <a:ext cx="1423467" cy="170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Hyperparameter Tuning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61287" y="2031319"/>
            <a:ext cx="4615830" cy="277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Systematic optimization of architecture parameters, learning rates, and regularization strategies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1283" y="2454326"/>
            <a:ext cx="108868" cy="13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1283" y="2623643"/>
            <a:ext cx="4615748" cy="15712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3" name="Text 11"/>
          <p:cNvSpPr/>
          <p:nvPr/>
        </p:nvSpPr>
        <p:spPr>
          <a:xfrm>
            <a:off x="381283" y="2709489"/>
            <a:ext cx="1361748" cy="170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Advanced Training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1283" y="2918251"/>
            <a:ext cx="4615748" cy="277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Ensemble methods, Grad-CAM visualization, uncertainty quantification, multi-class support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61287" y="2454326"/>
            <a:ext cx="108868" cy="13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61287" y="2623643"/>
            <a:ext cx="4615830" cy="15712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7" name="Text 15"/>
          <p:cNvSpPr/>
          <p:nvPr/>
        </p:nvSpPr>
        <p:spPr>
          <a:xfrm>
            <a:off x="5061287" y="2709489"/>
            <a:ext cx="1712335" cy="170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Evaluation &amp; Documentation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61287" y="2918251"/>
            <a:ext cx="4615830" cy="138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Comprehensive testing framework, clinical validation analysis, final report preparation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15118" y="4057072"/>
            <a:ext cx="1339892" cy="272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96%</a:t>
            </a:r>
            <a:endParaRPr lang="en-US" sz="21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106" y="3376447"/>
            <a:ext cx="1634081" cy="16336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381283" y="5101538"/>
            <a:ext cx="4607726" cy="138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Target Accuracy (vs. current 93.5%)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703226" y="4057072"/>
            <a:ext cx="1339892" cy="272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98%</a:t>
            </a:r>
            <a:endParaRPr lang="en-US" sz="21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14" y="3376447"/>
            <a:ext cx="1634081" cy="16336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069391" y="5101538"/>
            <a:ext cx="4607726" cy="138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Target Recall (vs. current 93.2%)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381283" y="5312346"/>
            <a:ext cx="9295834" cy="480783"/>
          </a:xfrm>
          <a:prstGeom prst="roundRect">
            <a:avLst>
              <a:gd name="adj" fmla="val 9517"/>
            </a:avLst>
          </a:prstGeom>
          <a:solidFill>
            <a:srgbClr val="CFE2DE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51" y="5448356"/>
            <a:ext cx="136126" cy="10884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35144" y="5403756"/>
            <a:ext cx="8833105" cy="277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Timeline: Weeks 1-4 (architecture development), Weeks 5-8 (training and evaluation) | Deadline: March 30, 2026 | Foundation: Phase 2 established robust data pipeline, baseline performance quantified, and evaluation framework complete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381283" y="5889531"/>
            <a:ext cx="2178829" cy="272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381283" y="6258199"/>
            <a:ext cx="9295834" cy="415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Phase 2 successfully completed all objectives, acquiring 4,311 MRI images, implementing preprocessing pipelines, developing baseline CNN with 93.5% accuracy, and establishing evaluation frameworks. All baseline targets met (≥90% accuracy, ≥88% precision, ≥90% recall, ≥89% F1-score, ≥95% ROC-AUC). The foundation is now ready for advanced CNN-LSTM architecture in Phase 3, targeting 95-98% accuracy with enhanced tumor detection capabilities.</a:t>
            </a:r>
            <a:endParaRPr lang="en-US" sz="850" dirty="0"/>
          </a:p>
        </p:txBody>
      </p:sp>
      <p:sp>
        <p:nvSpPr>
          <p:cNvPr id="30" name="Rectangle 29"/>
          <p:cNvSpPr/>
          <p:nvPr/>
        </p:nvSpPr>
        <p:spPr>
          <a:xfrm>
            <a:off x="8244348" y="7242024"/>
            <a:ext cx="1681317" cy="42713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1242</Words>
  <Application>Microsoft Office PowerPoint</Application>
  <PresentationFormat>Custom</PresentationFormat>
  <Paragraphs>215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Kanit Light</vt:lpstr>
      <vt:lpstr>Arial</vt:lpstr>
      <vt:lpstr>Martel Sans</vt:lpstr>
      <vt:lpstr>Bahnschrift SemiBold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INDIA</dc:creator>
  <cp:lastModifiedBy>INDIA</cp:lastModifiedBy>
  <cp:revision>6</cp:revision>
  <dcterms:created xsi:type="dcterms:W3CDTF">2026-03-11T16:25:27Z</dcterms:created>
  <dcterms:modified xsi:type="dcterms:W3CDTF">2026-03-12T17:59:31Z</dcterms:modified>
</cp:coreProperties>
</file>